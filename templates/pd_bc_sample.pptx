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4"/>
  </p:notesMasterIdLst>
  <p:sldIdLst>
    <p:sldId id="515760569" r:id="rId2"/>
    <p:sldId id="515761140" r:id="rId3"/>
  </p:sldIdLst>
  <p:sldSz cx="12192000" cy="6858000"/>
  <p:notesSz cx="6858000" cy="9144000"/>
  <p:defaultTextStyle>
    <a:defPPr>
      <a:defRPr lang="en-US"/>
    </a:defPPr>
    <a:lvl1pPr marL="0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1pPr>
    <a:lvl2pPr marL="277194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2pPr>
    <a:lvl3pPr marL="554389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3pPr>
    <a:lvl4pPr marL="831584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4pPr>
    <a:lvl5pPr marL="1108779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5pPr>
    <a:lvl6pPr marL="1385974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6pPr>
    <a:lvl7pPr marL="1663168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7pPr>
    <a:lvl8pPr marL="1940363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8pPr>
    <a:lvl9pPr marL="2217557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7" pos="3885" userDrawn="1">
          <p15:clr>
            <a:srgbClr val="A4A3A4"/>
          </p15:clr>
        </p15:guide>
        <p15:guide id="18" pos="1345" userDrawn="1">
          <p15:clr>
            <a:srgbClr val="A4A3A4"/>
          </p15:clr>
        </p15:guide>
        <p15:guide id="19" pos="6902" userDrawn="1">
          <p15:clr>
            <a:srgbClr val="A4A3A4"/>
          </p15:clr>
        </p15:guide>
        <p15:guide id="20" orient="horz" pos="8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EE2A91-04D3-8DCB-393A-1344B9AB0EF2}" name="Tanigawa Chika" initials="" userId="S::Chika.Tanigawa@ascentnetworks.onmicrosoft.com::6bb8955f-e061-4b3b-999e-05c07059a1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8296B2"/>
    <a:srgbClr val="FEFEFF"/>
    <a:srgbClr val="F7FBFE"/>
    <a:srgbClr val="EBF4FA"/>
    <a:srgbClr val="DBEAF7"/>
    <a:srgbClr val="C4DEF0"/>
    <a:srgbClr val="ACD0EA"/>
    <a:srgbClr val="89BEE2"/>
    <a:srgbClr val="4F9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 autoAdjust="0"/>
    <p:restoredTop sz="94957" autoAdjust="0"/>
  </p:normalViewPr>
  <p:slideViewPr>
    <p:cSldViewPr snapToGrid="0" showGuides="1">
      <p:cViewPr varScale="1">
        <p:scale>
          <a:sx n="116" d="100"/>
          <a:sy n="116" d="100"/>
        </p:scale>
        <p:origin x="536" y="184"/>
      </p:cViewPr>
      <p:guideLst>
        <p:guide pos="3885"/>
        <p:guide pos="1345"/>
        <p:guide pos="6902"/>
        <p:guide orient="horz" pos="82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-16686"/>
    </p:cViewPr>
  </p:sorterViewPr>
  <p:notesViewPr>
    <p:cSldViewPr snapToGrid="0" showGuide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575C664-24DF-BC49-865C-58793F1F82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AAD030-DFF0-9340-AEDB-A390D8959B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fld id="{6D7D8D21-847A-FC4A-A027-378C2035830C}" type="datetimeFigureOut">
              <a:rPr lang="ja-JP" altLang="en-US" smtClean="0"/>
              <a:pPr>
                <a:defRPr/>
              </a:pPr>
              <a:t>2026/10/3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12229736-B5D8-2A42-84DE-40E69C71A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0EDFE84-F042-6C4E-AF06-225BED7B1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1E05FC-4EE1-DA46-93D6-E9A3202E0A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450C69-AA80-7742-BE3E-914C9C347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fld id="{2CE42A34-F524-594B-A9AB-52D4263244E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  <a:cs typeface="+mn-cs"/>
      </a:defRPr>
    </a:lvl1pPr>
    <a:lvl2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2pPr>
    <a:lvl3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3pPr>
    <a:lvl4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4pPr>
    <a:lvl5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5pPr>
    <a:lvl6pPr marL="4572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6pPr>
    <a:lvl7pPr marL="9144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7pPr>
    <a:lvl8pPr marL="1371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8pPr>
    <a:lvl9pPr marL="18288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E2D0-4208-904E-FACC-EEAF2D45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BD36E6D-D479-C7F3-438C-2089E8953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64D697-4643-008B-A705-62C9868DA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01FC9B-8DF6-6FA8-31A0-3EB9250CE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55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E42A34-F524-594B-A9AB-52D4263244E6}" type="slidenum">
              <a:rPr kumimoji="0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Yu Gothic" panose="020B0400000000000000" pitchFamily="34" charset="-128"/>
                <a:cs typeface="+mn-cs"/>
              </a:rPr>
              <a:pPr marL="0" marR="0" lvl="0" indent="0" algn="r" defTabSz="5543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34" charset="-128"/>
              <a:ea typeface="Yu Gothic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32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12A2-A59F-BF2E-58F7-31D1EFDA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F13A169-AA9E-A740-841D-E1D8035F0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503973B-0A1F-9947-FF44-8F7E9E179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B3D459-886E-9F9A-45E6-B88EDA3D9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E42A34-F524-594B-A9AB-52D4263244E6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866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po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2D3F2E3-B210-5873-5060-AAA29D19E8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659" y="68215"/>
            <a:ext cx="1315379" cy="229017"/>
          </a:xfrm>
          <a:prstGeom prst="rect">
            <a:avLst/>
          </a:prstGeom>
        </p:spPr>
      </p:pic>
      <p:sp>
        <p:nvSpPr>
          <p:cNvPr id="5" name="テキスト プレースホルダー 16">
            <a:extLst>
              <a:ext uri="{FF2B5EF4-FFF2-40B4-BE49-F238E27FC236}">
                <a16:creationId xmlns:a16="http://schemas.microsoft.com/office/drawing/2014/main" id="{AD9EBCA7-F6F0-EE2B-9F6C-B868FF042B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61582" y="-3868"/>
            <a:ext cx="8880078" cy="300732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chemeClr val="bg1">
                    <a:lumMod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タイトル 4">
            <a:extLst>
              <a:ext uri="{FF2B5EF4-FFF2-40B4-BE49-F238E27FC236}">
                <a16:creationId xmlns:a16="http://schemas.microsoft.com/office/drawing/2014/main" id="{6C58E241-9B4F-D9E5-1704-EC0E02FE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50" y="296864"/>
            <a:ext cx="11492700" cy="405664"/>
          </a:xfrm>
          <a:prstGeom prst="rect">
            <a:avLst/>
          </a:prstGeom>
        </p:spPr>
        <p:txBody>
          <a:bodyPr wrap="square"/>
          <a:lstStyle>
            <a:lvl1pPr>
              <a:defRPr lang="ja-JP" altLang="en-US"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defRPr>
            </a:lvl1pPr>
          </a:lstStyle>
          <a:p>
            <a:pPr marL="0"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10">
            <a:extLst>
              <a:ext uri="{FF2B5EF4-FFF2-40B4-BE49-F238E27FC236}">
                <a16:creationId xmlns:a16="http://schemas.microsoft.com/office/drawing/2014/main" id="{4C464BDC-FDBD-986C-F7FE-A6C256A5B4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942" y="1101262"/>
            <a:ext cx="11838370" cy="6111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ja-JP" altLang="en-US" sz="1100" b="0" i="0" kern="1200">
                <a:solidFill>
                  <a:srgbClr val="000000"/>
                </a:solidFill>
                <a:latin typeface="Meiryo UI"/>
                <a:ea typeface="Meiryo UI" panose="020B0604030504040204" pitchFamily="34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172800" lvl="0" indent="-172800" algn="l" defTabSz="914400" rtl="0" latinLnBrk="0">
              <a:lnSpc>
                <a:spcPts val="182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コンテンツ プレースホルダー 13">
            <a:extLst>
              <a:ext uri="{FF2B5EF4-FFF2-40B4-BE49-F238E27FC236}">
                <a16:creationId xmlns:a16="http://schemas.microsoft.com/office/drawing/2014/main" id="{A6769580-5DCD-60D3-AC09-36BE2B8196B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9650" y="6624637"/>
            <a:ext cx="11347050" cy="215444"/>
          </a:xfrm>
          <a:prstGeom prst="rect">
            <a:avLst/>
          </a:prstGeom>
        </p:spPr>
        <p:txBody>
          <a:bodyPr vert="horz" lIns="0" tIns="36000" rIns="0" bIns="36000" rtlCol="0" anchor="b">
            <a:noAutofit/>
          </a:bodyPr>
          <a:lstStyle>
            <a:lvl1pPr marL="0" indent="0">
              <a:buNone/>
              <a:defRPr lang="ja-JP" altLang="en-US" sz="800" b="0" i="0" kern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</a:p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E89B91D-F051-BB75-9C1C-8C1507F2CD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0338"/>
          <a:stretch>
            <a:fillRect/>
          </a:stretch>
        </p:blipFill>
        <p:spPr>
          <a:xfrm>
            <a:off x="353258" y="2276476"/>
            <a:ext cx="2305857" cy="41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51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34">
          <p15:clr>
            <a:srgbClr val="FBAE40"/>
          </p15:clr>
        </p15:guide>
        <p15:guide id="7" orient="horz" pos="4065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7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epo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図 56">
            <a:extLst>
              <a:ext uri="{FF2B5EF4-FFF2-40B4-BE49-F238E27FC236}">
                <a16:creationId xmlns:a16="http://schemas.microsoft.com/office/drawing/2014/main" id="{CABF7057-A4DC-C39C-A1F3-3ABFE9802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231"/>
          <a:stretch>
            <a:fillRect/>
          </a:stretch>
        </p:blipFill>
        <p:spPr>
          <a:xfrm>
            <a:off x="430686" y="2668879"/>
            <a:ext cx="865015" cy="510959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39158822-0710-448B-030E-9E1CF1F45C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27"/>
          <a:stretch>
            <a:fillRect/>
          </a:stretch>
        </p:blipFill>
        <p:spPr>
          <a:xfrm>
            <a:off x="423667" y="5079764"/>
            <a:ext cx="865015" cy="585611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E43CF005-6704-D95E-87EC-8B960B56A3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02" b="38529"/>
          <a:stretch>
            <a:fillRect/>
          </a:stretch>
        </p:blipFill>
        <p:spPr>
          <a:xfrm>
            <a:off x="382379" y="3979211"/>
            <a:ext cx="865015" cy="51095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2D3F2E3-B210-5873-5060-AAA29D19E8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659" y="68215"/>
            <a:ext cx="1315379" cy="229017"/>
          </a:xfrm>
          <a:prstGeom prst="rect">
            <a:avLst/>
          </a:prstGeom>
        </p:spPr>
      </p:pic>
      <p:sp>
        <p:nvSpPr>
          <p:cNvPr id="5" name="テキスト プレースホルダー 16">
            <a:extLst>
              <a:ext uri="{FF2B5EF4-FFF2-40B4-BE49-F238E27FC236}">
                <a16:creationId xmlns:a16="http://schemas.microsoft.com/office/drawing/2014/main" id="{AD9EBCA7-F6F0-EE2B-9F6C-B868FF042B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61582" y="-3868"/>
            <a:ext cx="8880078" cy="300732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chemeClr val="bg1">
                    <a:lumMod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タイトル 4">
            <a:extLst>
              <a:ext uri="{FF2B5EF4-FFF2-40B4-BE49-F238E27FC236}">
                <a16:creationId xmlns:a16="http://schemas.microsoft.com/office/drawing/2014/main" id="{6C58E241-9B4F-D9E5-1704-EC0E02FE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50" y="296864"/>
            <a:ext cx="11492700" cy="405664"/>
          </a:xfrm>
          <a:prstGeom prst="rect">
            <a:avLst/>
          </a:prstGeom>
        </p:spPr>
        <p:txBody>
          <a:bodyPr wrap="square"/>
          <a:lstStyle>
            <a:lvl1pPr>
              <a:defRPr lang="ja-JP" altLang="en-US"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defRPr>
            </a:lvl1pPr>
          </a:lstStyle>
          <a:p>
            <a:pPr marL="0"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10">
            <a:extLst>
              <a:ext uri="{FF2B5EF4-FFF2-40B4-BE49-F238E27FC236}">
                <a16:creationId xmlns:a16="http://schemas.microsoft.com/office/drawing/2014/main" id="{4C464BDC-FDBD-986C-F7FE-A6C256A5B4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942" y="1101262"/>
            <a:ext cx="11838370" cy="6111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ja-JP" altLang="en-US" sz="1100" b="0" i="0" kern="1200">
                <a:solidFill>
                  <a:srgbClr val="000000"/>
                </a:solidFill>
                <a:latin typeface="Meiryo UI"/>
                <a:ea typeface="Meiryo UI" panose="020B0604030504040204" pitchFamily="34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172800" lvl="0" indent="-172800" algn="l" defTabSz="914400" rtl="0" latinLnBrk="0">
              <a:lnSpc>
                <a:spcPts val="182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コンテンツ プレースホルダー 13">
            <a:extLst>
              <a:ext uri="{FF2B5EF4-FFF2-40B4-BE49-F238E27FC236}">
                <a16:creationId xmlns:a16="http://schemas.microsoft.com/office/drawing/2014/main" id="{A6769580-5DCD-60D3-AC09-36BE2B8196B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9650" y="6624637"/>
            <a:ext cx="11347050" cy="215444"/>
          </a:xfrm>
          <a:prstGeom prst="rect">
            <a:avLst/>
          </a:prstGeom>
        </p:spPr>
        <p:txBody>
          <a:bodyPr vert="horz" lIns="0" tIns="36000" rIns="0" bIns="36000" rtlCol="0" anchor="b">
            <a:noAutofit/>
          </a:bodyPr>
          <a:lstStyle>
            <a:lvl1pPr marL="0" indent="0">
              <a:buNone/>
              <a:defRPr lang="ja-JP" altLang="en-US" sz="800" b="0" i="0" kern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</a:p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  <a:endParaRPr kumimoji="1" lang="ja-JP" altLang="en-US"/>
          </a:p>
        </p:txBody>
      </p:sp>
      <p:sp>
        <p:nvSpPr>
          <p:cNvPr id="47" name="角丸四角形 46">
            <a:extLst>
              <a:ext uri="{FF2B5EF4-FFF2-40B4-BE49-F238E27FC236}">
                <a16:creationId xmlns:a16="http://schemas.microsoft.com/office/drawing/2014/main" id="{B3E9353B-BD9E-93AA-600D-70C32835BA1E}"/>
              </a:ext>
            </a:extLst>
          </p:cNvPr>
          <p:cNvSpPr/>
          <p:nvPr userDrawn="1"/>
        </p:nvSpPr>
        <p:spPr bwMode="auto">
          <a:xfrm>
            <a:off x="10032672" y="2478286"/>
            <a:ext cx="805077" cy="985993"/>
          </a:xfrm>
          <a:prstGeom prst="roundRect">
            <a:avLst/>
          </a:prstGeom>
          <a:solidFill>
            <a:srgbClr val="A5B4C8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49" name="角丸四角形 48">
            <a:extLst>
              <a:ext uri="{FF2B5EF4-FFF2-40B4-BE49-F238E27FC236}">
                <a16:creationId xmlns:a16="http://schemas.microsoft.com/office/drawing/2014/main" id="{CD0043C9-E519-59E5-DA93-BEA908855CD2}"/>
              </a:ext>
            </a:extLst>
          </p:cNvPr>
          <p:cNvSpPr/>
          <p:nvPr userDrawn="1"/>
        </p:nvSpPr>
        <p:spPr bwMode="auto">
          <a:xfrm>
            <a:off x="10023354" y="4997959"/>
            <a:ext cx="805077" cy="985993"/>
          </a:xfrm>
          <a:prstGeom prst="roundRect">
            <a:avLst/>
          </a:prstGeom>
          <a:solidFill>
            <a:srgbClr val="4F9DD4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606B7C97-67AA-0A8C-0668-15F3A8C92040}"/>
              </a:ext>
            </a:extLst>
          </p:cNvPr>
          <p:cNvSpPr/>
          <p:nvPr userDrawn="1"/>
        </p:nvSpPr>
        <p:spPr bwMode="auto">
          <a:xfrm>
            <a:off x="10031638" y="3738122"/>
            <a:ext cx="805077" cy="985993"/>
          </a:xfrm>
          <a:prstGeom prst="roundRect">
            <a:avLst/>
          </a:prstGeom>
          <a:solidFill>
            <a:srgbClr val="BCBCBC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9499FE38-561E-CE47-32DF-9A16BF1B8E88}"/>
              </a:ext>
            </a:extLst>
          </p:cNvPr>
          <p:cNvSpPr/>
          <p:nvPr userDrawn="1"/>
        </p:nvSpPr>
        <p:spPr bwMode="auto">
          <a:xfrm>
            <a:off x="1335955" y="2478286"/>
            <a:ext cx="805077" cy="98599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0FD6AF9D-638D-B9C6-59BC-9FFE1A2882BB}"/>
              </a:ext>
            </a:extLst>
          </p:cNvPr>
          <p:cNvSpPr/>
          <p:nvPr userDrawn="1"/>
        </p:nvSpPr>
        <p:spPr bwMode="auto">
          <a:xfrm>
            <a:off x="2309619" y="2478286"/>
            <a:ext cx="805077" cy="985993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1393BFD3-F336-2697-8016-1B6ED23BCABB}"/>
              </a:ext>
            </a:extLst>
          </p:cNvPr>
          <p:cNvSpPr/>
          <p:nvPr userDrawn="1"/>
        </p:nvSpPr>
        <p:spPr bwMode="auto">
          <a:xfrm>
            <a:off x="3273965" y="2478286"/>
            <a:ext cx="805077" cy="985993"/>
          </a:xfrm>
          <a:prstGeom prst="roundRect">
            <a:avLst/>
          </a:prstGeom>
          <a:solidFill>
            <a:srgbClr val="FAFCFD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B04D07CB-B4CA-3642-460F-99E7D8C7E93E}"/>
              </a:ext>
            </a:extLst>
          </p:cNvPr>
          <p:cNvSpPr/>
          <p:nvPr userDrawn="1"/>
        </p:nvSpPr>
        <p:spPr bwMode="auto">
          <a:xfrm>
            <a:off x="4238311" y="2478286"/>
            <a:ext cx="805077" cy="985993"/>
          </a:xfrm>
          <a:prstGeom prst="roundRect">
            <a:avLst/>
          </a:prstGeom>
          <a:solidFill>
            <a:srgbClr val="F4F7F9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9EEEFFCE-B628-E82A-D76E-ED28F7960733}"/>
              </a:ext>
            </a:extLst>
          </p:cNvPr>
          <p:cNvSpPr/>
          <p:nvPr userDrawn="1"/>
        </p:nvSpPr>
        <p:spPr bwMode="auto">
          <a:xfrm>
            <a:off x="5202657" y="2478286"/>
            <a:ext cx="805077" cy="985993"/>
          </a:xfrm>
          <a:prstGeom prst="roundRect">
            <a:avLst/>
          </a:prstGeom>
          <a:solidFill>
            <a:srgbClr val="EBEEF4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A616588F-7F76-50B2-F4BE-ADED91BF30E1}"/>
              </a:ext>
            </a:extLst>
          </p:cNvPr>
          <p:cNvSpPr/>
          <p:nvPr userDrawn="1"/>
        </p:nvSpPr>
        <p:spPr bwMode="auto">
          <a:xfrm>
            <a:off x="6167003" y="2478286"/>
            <a:ext cx="805077" cy="985993"/>
          </a:xfrm>
          <a:prstGeom prst="roundRect">
            <a:avLst/>
          </a:prstGeom>
          <a:solidFill>
            <a:srgbClr val="E0E6EC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29807B65-A2FA-C4B7-FD03-B8B8FAE6F802}"/>
              </a:ext>
            </a:extLst>
          </p:cNvPr>
          <p:cNvSpPr/>
          <p:nvPr userDrawn="1"/>
        </p:nvSpPr>
        <p:spPr bwMode="auto">
          <a:xfrm>
            <a:off x="7131349" y="2478286"/>
            <a:ext cx="805077" cy="985993"/>
          </a:xfrm>
          <a:prstGeom prst="roundRect">
            <a:avLst/>
          </a:prstGeom>
          <a:solidFill>
            <a:srgbClr val="D5DDE6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B730ECB0-A343-5B4E-0592-2DF9839C1723}"/>
              </a:ext>
            </a:extLst>
          </p:cNvPr>
          <p:cNvSpPr/>
          <p:nvPr userDrawn="1"/>
        </p:nvSpPr>
        <p:spPr bwMode="auto">
          <a:xfrm>
            <a:off x="8095695" y="2478286"/>
            <a:ext cx="805077" cy="985993"/>
          </a:xfrm>
          <a:prstGeom prst="roundRect">
            <a:avLst/>
          </a:prstGeom>
          <a:solidFill>
            <a:srgbClr val="C8D1DE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ACF730A2-0E5D-7914-E39E-C47A422D828D}"/>
              </a:ext>
            </a:extLst>
          </p:cNvPr>
          <p:cNvSpPr/>
          <p:nvPr userDrawn="1"/>
        </p:nvSpPr>
        <p:spPr bwMode="auto">
          <a:xfrm>
            <a:off x="1335955" y="4997959"/>
            <a:ext cx="805077" cy="98599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1B4A0A70-5D42-DF0E-6980-A3D875AB444D}"/>
              </a:ext>
            </a:extLst>
          </p:cNvPr>
          <p:cNvSpPr/>
          <p:nvPr userDrawn="1"/>
        </p:nvSpPr>
        <p:spPr bwMode="auto">
          <a:xfrm>
            <a:off x="2300301" y="4997959"/>
            <a:ext cx="805077" cy="985993"/>
          </a:xfrm>
          <a:prstGeom prst="roundRect">
            <a:avLst/>
          </a:prstGeom>
          <a:solidFill>
            <a:srgbClr val="FEFEFF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2D8961CE-C571-409A-5188-788F2D184986}"/>
              </a:ext>
            </a:extLst>
          </p:cNvPr>
          <p:cNvSpPr/>
          <p:nvPr userDrawn="1"/>
        </p:nvSpPr>
        <p:spPr bwMode="auto">
          <a:xfrm>
            <a:off x="3264647" y="4997959"/>
            <a:ext cx="805077" cy="985993"/>
          </a:xfrm>
          <a:prstGeom prst="roundRect">
            <a:avLst/>
          </a:prstGeom>
          <a:solidFill>
            <a:srgbClr val="F7FBFE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A60C6675-4031-9F9E-8CB2-8C3090FCCF5E}"/>
              </a:ext>
            </a:extLst>
          </p:cNvPr>
          <p:cNvSpPr/>
          <p:nvPr userDrawn="1"/>
        </p:nvSpPr>
        <p:spPr bwMode="auto">
          <a:xfrm>
            <a:off x="4228993" y="4997959"/>
            <a:ext cx="805077" cy="985993"/>
          </a:xfrm>
          <a:prstGeom prst="roundRect">
            <a:avLst/>
          </a:prstGeom>
          <a:solidFill>
            <a:srgbClr val="EBF4FA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0376DCFC-0C98-FAF3-94B5-025ECA7DEAC5}"/>
              </a:ext>
            </a:extLst>
          </p:cNvPr>
          <p:cNvSpPr/>
          <p:nvPr userDrawn="1"/>
        </p:nvSpPr>
        <p:spPr bwMode="auto">
          <a:xfrm>
            <a:off x="5193339" y="4997959"/>
            <a:ext cx="805077" cy="985993"/>
          </a:xfrm>
          <a:prstGeom prst="roundRect">
            <a:avLst/>
          </a:prstGeom>
          <a:solidFill>
            <a:srgbClr val="DBEAF7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F2BA9FDD-8092-5B00-46FE-F0353426D325}"/>
              </a:ext>
            </a:extLst>
          </p:cNvPr>
          <p:cNvSpPr/>
          <p:nvPr userDrawn="1"/>
        </p:nvSpPr>
        <p:spPr bwMode="auto">
          <a:xfrm>
            <a:off x="6157685" y="4997959"/>
            <a:ext cx="805077" cy="985993"/>
          </a:xfrm>
          <a:prstGeom prst="roundRect">
            <a:avLst/>
          </a:prstGeom>
          <a:solidFill>
            <a:srgbClr val="C4DEF0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67299898-68DF-AB43-CC8F-A25273D0363F}"/>
              </a:ext>
            </a:extLst>
          </p:cNvPr>
          <p:cNvSpPr/>
          <p:nvPr userDrawn="1"/>
        </p:nvSpPr>
        <p:spPr bwMode="auto">
          <a:xfrm>
            <a:off x="7122031" y="4997959"/>
            <a:ext cx="805077" cy="985993"/>
          </a:xfrm>
          <a:prstGeom prst="roundRect">
            <a:avLst/>
          </a:prstGeom>
          <a:solidFill>
            <a:srgbClr val="ACD0EA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003E5BEB-C9C8-B92B-F0C5-C00953AE9577}"/>
              </a:ext>
            </a:extLst>
          </p:cNvPr>
          <p:cNvSpPr/>
          <p:nvPr userDrawn="1"/>
        </p:nvSpPr>
        <p:spPr bwMode="auto">
          <a:xfrm>
            <a:off x="8086377" y="4997959"/>
            <a:ext cx="805077" cy="985993"/>
          </a:xfrm>
          <a:prstGeom prst="roundRect">
            <a:avLst/>
          </a:prstGeom>
          <a:solidFill>
            <a:srgbClr val="89BEE2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B37A10CA-FB4D-CB69-69C3-0028D1BD75EB}"/>
              </a:ext>
            </a:extLst>
          </p:cNvPr>
          <p:cNvSpPr/>
          <p:nvPr userDrawn="1"/>
        </p:nvSpPr>
        <p:spPr bwMode="auto">
          <a:xfrm>
            <a:off x="1335955" y="3738122"/>
            <a:ext cx="805077" cy="985993"/>
          </a:xfrm>
          <a:prstGeom prst="round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BB44F407-4147-0F81-9E39-E3510164AA71}"/>
              </a:ext>
            </a:extLst>
          </p:cNvPr>
          <p:cNvSpPr/>
          <p:nvPr userDrawn="1"/>
        </p:nvSpPr>
        <p:spPr bwMode="auto">
          <a:xfrm>
            <a:off x="2301337" y="3738122"/>
            <a:ext cx="805077" cy="985993"/>
          </a:xfrm>
          <a:prstGeom prst="roundRect">
            <a:avLst/>
          </a:prstGeom>
          <a:solidFill>
            <a:srgbClr val="FDFDFD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01C0553B-C1A7-BB49-A8BE-49C0161BA923}"/>
              </a:ext>
            </a:extLst>
          </p:cNvPr>
          <p:cNvSpPr/>
          <p:nvPr userDrawn="1"/>
        </p:nvSpPr>
        <p:spPr bwMode="auto">
          <a:xfrm>
            <a:off x="3266718" y="3738122"/>
            <a:ext cx="805077" cy="985993"/>
          </a:xfrm>
          <a:prstGeom prst="roundRect">
            <a:avLst/>
          </a:prstGeom>
          <a:solidFill>
            <a:srgbClr val="FAFAFA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233D2397-E1BB-310D-16F8-F0CED8D1061D}"/>
              </a:ext>
            </a:extLst>
          </p:cNvPr>
          <p:cNvSpPr/>
          <p:nvPr userDrawn="1"/>
        </p:nvSpPr>
        <p:spPr bwMode="auto">
          <a:xfrm>
            <a:off x="4232100" y="3738122"/>
            <a:ext cx="805077" cy="985993"/>
          </a:xfrm>
          <a:prstGeom prst="roundRect">
            <a:avLst/>
          </a:prstGeom>
          <a:solidFill>
            <a:srgbClr val="F5F5F5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3D82C2F6-266E-AB94-FE18-B094AC5CD109}"/>
              </a:ext>
            </a:extLst>
          </p:cNvPr>
          <p:cNvSpPr/>
          <p:nvPr userDrawn="1"/>
        </p:nvSpPr>
        <p:spPr bwMode="auto">
          <a:xfrm>
            <a:off x="5197481" y="3738122"/>
            <a:ext cx="805077" cy="985993"/>
          </a:xfrm>
          <a:prstGeom prst="roundRect">
            <a:avLst/>
          </a:prstGeom>
          <a:solidFill>
            <a:srgbClr val="F0F0F0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30B89F33-239C-8747-0104-46744C038E83}"/>
              </a:ext>
            </a:extLst>
          </p:cNvPr>
          <p:cNvSpPr/>
          <p:nvPr userDrawn="1"/>
        </p:nvSpPr>
        <p:spPr bwMode="auto">
          <a:xfrm>
            <a:off x="6162863" y="3738122"/>
            <a:ext cx="805077" cy="985993"/>
          </a:xfrm>
          <a:prstGeom prst="roundRect">
            <a:avLst/>
          </a:prstGeom>
          <a:solidFill>
            <a:srgbClr val="EAEAEA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6" name="角丸四角形 35">
            <a:extLst>
              <a:ext uri="{FF2B5EF4-FFF2-40B4-BE49-F238E27FC236}">
                <a16:creationId xmlns:a16="http://schemas.microsoft.com/office/drawing/2014/main" id="{11B15689-8147-F360-656F-73B8C67935E0}"/>
              </a:ext>
            </a:extLst>
          </p:cNvPr>
          <p:cNvSpPr/>
          <p:nvPr userDrawn="1"/>
        </p:nvSpPr>
        <p:spPr bwMode="auto">
          <a:xfrm>
            <a:off x="7128244" y="3738122"/>
            <a:ext cx="805077" cy="985993"/>
          </a:xfrm>
          <a:prstGeom prst="roundRect">
            <a:avLst/>
          </a:prstGeom>
          <a:solidFill>
            <a:srgbClr val="D3D3D3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84DC23B9-99EB-2A15-DC8D-E8D0A61485EA}"/>
              </a:ext>
            </a:extLst>
          </p:cNvPr>
          <p:cNvSpPr/>
          <p:nvPr userDrawn="1"/>
        </p:nvSpPr>
        <p:spPr bwMode="auto">
          <a:xfrm>
            <a:off x="8093626" y="3738122"/>
            <a:ext cx="805077" cy="985993"/>
          </a:xfrm>
          <a:prstGeom prst="roundRect">
            <a:avLst/>
          </a:prstGeom>
          <a:solidFill>
            <a:srgbClr val="D0D0D0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B2289F99-2FD2-A221-459A-6A2E7D7D3A16}"/>
              </a:ext>
            </a:extLst>
          </p:cNvPr>
          <p:cNvSpPr/>
          <p:nvPr userDrawn="1"/>
        </p:nvSpPr>
        <p:spPr bwMode="auto">
          <a:xfrm>
            <a:off x="10997019" y="2478286"/>
            <a:ext cx="805077" cy="985993"/>
          </a:xfrm>
          <a:prstGeom prst="roundRect">
            <a:avLst/>
          </a:prstGeom>
          <a:solidFill>
            <a:srgbClr val="8296B2"/>
          </a:solidFill>
          <a:ln w="6350" cap="flat" cmpd="sng" algn="ctr">
            <a:solidFill>
              <a:srgbClr val="8296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50" name="角丸四角形 49">
            <a:extLst>
              <a:ext uri="{FF2B5EF4-FFF2-40B4-BE49-F238E27FC236}">
                <a16:creationId xmlns:a16="http://schemas.microsoft.com/office/drawing/2014/main" id="{F8430C3F-A117-D273-591D-F167EB9ABF57}"/>
              </a:ext>
            </a:extLst>
          </p:cNvPr>
          <p:cNvSpPr/>
          <p:nvPr userDrawn="1"/>
        </p:nvSpPr>
        <p:spPr bwMode="auto">
          <a:xfrm>
            <a:off x="10987701" y="4997959"/>
            <a:ext cx="805077" cy="985993"/>
          </a:xfrm>
          <a:prstGeom prst="roundRect">
            <a:avLst/>
          </a:prstGeom>
          <a:solidFill>
            <a:srgbClr val="0070C0"/>
          </a:solidFill>
          <a:ln w="63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sp>
        <p:nvSpPr>
          <p:cNvPr id="52" name="角丸四角形 51">
            <a:extLst>
              <a:ext uri="{FF2B5EF4-FFF2-40B4-BE49-F238E27FC236}">
                <a16:creationId xmlns:a16="http://schemas.microsoft.com/office/drawing/2014/main" id="{46EC09EE-3932-8F6F-9800-7B0D3D87CA2E}"/>
              </a:ext>
            </a:extLst>
          </p:cNvPr>
          <p:cNvSpPr/>
          <p:nvPr userDrawn="1"/>
        </p:nvSpPr>
        <p:spPr bwMode="auto">
          <a:xfrm>
            <a:off x="10997019" y="3738122"/>
            <a:ext cx="805077" cy="985993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 latinLnBrk="0">
              <a:spcBef>
                <a:spcPct val="0"/>
              </a:spcBef>
              <a:spcAft>
                <a:spcPct val="0"/>
              </a:spcAft>
            </a:pPr>
            <a:endParaRPr kumimoji="1" lang="ja-JP" altLang="en-US" sz="2100" b="1" dirty="0">
              <a:latin typeface="Samsung Sharp Sans Bold" pitchFamily="2" charset="0"/>
              <a:ea typeface="맑은 고딕" panose="020B0503020000020004" pitchFamily="50" charset="-127"/>
              <a:cs typeface="Samsung Sharp Sans Bold" pitchFamily="2" charset="0"/>
            </a:endParaRPr>
          </a:p>
        </p:txBody>
      </p:sp>
      <p:pic>
        <p:nvPicPr>
          <p:cNvPr id="83" name="図 82">
            <a:extLst>
              <a:ext uri="{FF2B5EF4-FFF2-40B4-BE49-F238E27FC236}">
                <a16:creationId xmlns:a16="http://schemas.microsoft.com/office/drawing/2014/main" id="{B8F4B34C-35F5-88CC-2567-5C32047CB8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014" y="2426862"/>
            <a:ext cx="898319" cy="1099667"/>
          </a:xfrm>
          <a:prstGeom prst="rect">
            <a:avLst/>
          </a:prstGeom>
        </p:spPr>
      </p:pic>
      <p:pic>
        <p:nvPicPr>
          <p:cNvPr id="84" name="図 83">
            <a:extLst>
              <a:ext uri="{FF2B5EF4-FFF2-40B4-BE49-F238E27FC236}">
                <a16:creationId xmlns:a16="http://schemas.microsoft.com/office/drawing/2014/main" id="{DB524E71-A765-8619-9D47-366D11FD71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011" y="3674622"/>
            <a:ext cx="898319" cy="1099667"/>
          </a:xfrm>
          <a:prstGeom prst="rect">
            <a:avLst/>
          </a:prstGeom>
        </p:spPr>
      </p:pic>
      <p:pic>
        <p:nvPicPr>
          <p:cNvPr id="85" name="図 84">
            <a:extLst>
              <a:ext uri="{FF2B5EF4-FFF2-40B4-BE49-F238E27FC236}">
                <a16:creationId xmlns:a16="http://schemas.microsoft.com/office/drawing/2014/main" id="{219B3CB9-FB47-FFCE-AB4C-F13C00504B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011" y="4961779"/>
            <a:ext cx="898319" cy="109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8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34" userDrawn="1">
          <p15:clr>
            <a:srgbClr val="FBAE40"/>
          </p15:clr>
        </p15:guide>
        <p15:guide id="7" orient="horz" pos="4065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72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/>
        </p:nvSpPr>
        <p:spPr>
          <a:xfrm>
            <a:off x="11716209" y="6617102"/>
            <a:ext cx="367977" cy="120639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BCC8D0D-EAEC-449D-9161-023DFF90F2E2}" type="slidenum">
              <a:rPr lang="en-US" sz="1200" b="1" i="0" smtClean="0">
                <a:solidFill>
                  <a:schemeClr val="tx1"/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Samsung SS Head Bold" pitchFamily="2" charset="0"/>
              </a:rPr>
              <a:pPr algn="l"/>
              <a:t>‹#›</a:t>
            </a:fld>
            <a:endParaRPr lang="en-US" sz="1200" b="1" i="0" dirty="0">
              <a:solidFill>
                <a:schemeClr val="tx1"/>
              </a:solidFill>
              <a:latin typeface="SamsungOne 400" panose="020B0503030303020204" pitchFamily="34" charset="0"/>
              <a:ea typeface="SamsungOne 400" panose="020B0503030303020204" pitchFamily="34" charset="0"/>
              <a:cs typeface="Samsung SS Head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1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94" r:id="rId2"/>
  </p:sldLayoutIdLst>
  <p:hf hdr="0" ftr="0" dt="0"/>
  <p:txStyles>
    <p:titleStyle>
      <a:lvl1pPr eaLnBrk="1" hangingPunct="1">
        <a:defRPr kumimoji="1" sz="750">
          <a:latin typeface="SamsungOne 700" panose="020B0803030303020204" pitchFamily="34" charset="0"/>
          <a:ea typeface="+mj-ea"/>
          <a:cs typeface="+mj-cs"/>
        </a:defRPr>
      </a:lvl1pPr>
    </p:titleStyle>
    <p:bodyStyle>
      <a:lvl1pPr marL="0" eaLnBrk="1" hangingPunct="1">
        <a:defRPr kumimoji="1">
          <a:latin typeface="+mn-lt"/>
          <a:ea typeface="+mn-ea"/>
          <a:cs typeface="+mn-cs"/>
        </a:defRPr>
      </a:lvl1pPr>
      <a:lvl2pPr marL="277262" eaLnBrk="1" hangingPunct="1">
        <a:defRPr kumimoji="1">
          <a:latin typeface="+mn-lt"/>
          <a:ea typeface="+mn-ea"/>
          <a:cs typeface="+mn-cs"/>
        </a:defRPr>
      </a:lvl2pPr>
      <a:lvl3pPr marL="554524" eaLnBrk="1" hangingPunct="1">
        <a:defRPr kumimoji="1">
          <a:latin typeface="+mn-lt"/>
          <a:ea typeface="+mn-ea"/>
          <a:cs typeface="+mn-cs"/>
        </a:defRPr>
      </a:lvl3pPr>
      <a:lvl4pPr marL="831786" eaLnBrk="1" hangingPunct="1">
        <a:defRPr kumimoji="1">
          <a:latin typeface="+mn-lt"/>
          <a:ea typeface="+mn-ea"/>
          <a:cs typeface="+mn-cs"/>
        </a:defRPr>
      </a:lvl4pPr>
      <a:lvl5pPr marL="1109048" eaLnBrk="1" hangingPunct="1">
        <a:defRPr kumimoji="1">
          <a:latin typeface="+mn-lt"/>
          <a:ea typeface="+mn-ea"/>
          <a:cs typeface="+mn-cs"/>
        </a:defRPr>
      </a:lvl5pPr>
      <a:lvl6pPr marL="1386310" eaLnBrk="1" hangingPunct="1">
        <a:defRPr kumimoji="1">
          <a:latin typeface="+mn-lt"/>
          <a:ea typeface="+mn-ea"/>
          <a:cs typeface="+mn-cs"/>
        </a:defRPr>
      </a:lvl6pPr>
      <a:lvl7pPr marL="1663570" eaLnBrk="1" hangingPunct="1">
        <a:defRPr kumimoji="1">
          <a:latin typeface="+mn-lt"/>
          <a:ea typeface="+mn-ea"/>
          <a:cs typeface="+mn-cs"/>
        </a:defRPr>
      </a:lvl7pPr>
      <a:lvl8pPr marL="1940834" eaLnBrk="1" hangingPunct="1">
        <a:defRPr kumimoji="1">
          <a:latin typeface="+mn-lt"/>
          <a:ea typeface="+mn-ea"/>
          <a:cs typeface="+mn-cs"/>
        </a:defRPr>
      </a:lvl8pPr>
      <a:lvl9pPr marL="2218095" eaLnBrk="1" hangingPunct="1">
        <a:defRPr kumimoji="1">
          <a:latin typeface="+mn-lt"/>
          <a:ea typeface="+mn-ea"/>
          <a:cs typeface="+mn-cs"/>
        </a:defRPr>
      </a:lvl9pPr>
    </p:bodyStyle>
    <p:otherStyle>
      <a:lvl1pPr marL="0" eaLnBrk="1" hangingPunct="1">
        <a:defRPr kumimoji="1">
          <a:latin typeface="+mn-lt"/>
          <a:ea typeface="+mn-ea"/>
          <a:cs typeface="+mn-cs"/>
        </a:defRPr>
      </a:lvl1pPr>
      <a:lvl2pPr marL="277262" eaLnBrk="1" hangingPunct="1">
        <a:defRPr kumimoji="1">
          <a:latin typeface="+mn-lt"/>
          <a:ea typeface="+mn-ea"/>
          <a:cs typeface="+mn-cs"/>
        </a:defRPr>
      </a:lvl2pPr>
      <a:lvl3pPr marL="554524" eaLnBrk="1" hangingPunct="1">
        <a:defRPr kumimoji="1">
          <a:latin typeface="+mn-lt"/>
          <a:ea typeface="+mn-ea"/>
          <a:cs typeface="+mn-cs"/>
        </a:defRPr>
      </a:lvl3pPr>
      <a:lvl4pPr marL="831786" eaLnBrk="1" hangingPunct="1">
        <a:defRPr kumimoji="1">
          <a:latin typeface="+mn-lt"/>
          <a:ea typeface="+mn-ea"/>
          <a:cs typeface="+mn-cs"/>
        </a:defRPr>
      </a:lvl4pPr>
      <a:lvl5pPr marL="1109048" eaLnBrk="1" hangingPunct="1">
        <a:defRPr kumimoji="1">
          <a:latin typeface="+mn-lt"/>
          <a:ea typeface="+mn-ea"/>
          <a:cs typeface="+mn-cs"/>
        </a:defRPr>
      </a:lvl5pPr>
      <a:lvl6pPr marL="1386310" eaLnBrk="1" hangingPunct="1">
        <a:defRPr kumimoji="1">
          <a:latin typeface="+mn-lt"/>
          <a:ea typeface="+mn-ea"/>
          <a:cs typeface="+mn-cs"/>
        </a:defRPr>
      </a:lvl6pPr>
      <a:lvl7pPr marL="1663570" eaLnBrk="1" hangingPunct="1">
        <a:defRPr kumimoji="1">
          <a:latin typeface="+mn-lt"/>
          <a:ea typeface="+mn-ea"/>
          <a:cs typeface="+mn-cs"/>
        </a:defRPr>
      </a:lvl7pPr>
      <a:lvl8pPr marL="1940834" eaLnBrk="1" hangingPunct="1">
        <a:defRPr kumimoji="1">
          <a:latin typeface="+mn-lt"/>
          <a:ea typeface="+mn-ea"/>
          <a:cs typeface="+mn-cs"/>
        </a:defRPr>
      </a:lvl8pPr>
      <a:lvl9pPr marL="2218095" eaLnBrk="1" hangingPunct="1">
        <a:defRPr kumimoji="1"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187">
          <p15:clr>
            <a:srgbClr val="F26B43"/>
          </p15:clr>
        </p15:guide>
        <p15:guide id="27" orient="horz" pos="686">
          <p15:clr>
            <a:srgbClr val="F26B43"/>
          </p15:clr>
        </p15:guide>
        <p15:guide id="31" pos="211">
          <p15:clr>
            <a:srgbClr val="F26B43"/>
          </p15:clr>
        </p15:guide>
        <p15:guide id="32" orient="horz" pos="75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A946-FE08-5470-C6D2-1DB6C711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FCB2372-BADE-AE06-748B-8C54DCE9D20D}"/>
              </a:ext>
            </a:extLst>
          </p:cNvPr>
          <p:cNvSpPr txBox="1">
            <a:spLocks/>
          </p:cNvSpPr>
          <p:nvPr/>
        </p:nvSpPr>
        <p:spPr>
          <a:xfrm>
            <a:off x="438156" y="6381750"/>
            <a:ext cx="11350110" cy="476250"/>
          </a:xfrm>
          <a:prstGeom prst="rect">
            <a:avLst/>
          </a:prstGeom>
        </p:spPr>
        <p:txBody>
          <a:bodyPr vert="horz" wrap="square" lIns="0" tIns="36000" rIns="0" bIns="36000" rtlCol="0" anchor="b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50000"/>
                </a:prstClr>
              </a:buClr>
            </a:pPr>
            <a:r>
              <a:rPr kumimoji="1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</a:rPr>
              <a:t>Data：2026/9/21~2026/9/27
</a:t>
            </a:r>
            <a:r>
              <a:rPr lang="en-US" altLang="ja-JP" dirty="0">
                <a:solidFill>
                  <a:srgbClr val="FFFFFF">
                    <a:lumMod val="50000"/>
                  </a:srgbClr>
                </a:solidFill>
              </a:rPr>
              <a:t>https://</a:t>
            </a:r>
            <a:r>
              <a:rPr lang="en-US" altLang="ja-JP" dirty="0" err="1">
                <a:solidFill>
                  <a:srgbClr val="FFFFFF">
                    <a:lumMod val="50000"/>
                  </a:srgbClr>
                </a:solidFill>
              </a:rPr>
              <a:t>www.samsung.com</a:t>
            </a:r>
            <a:r>
              <a:rPr lang="en-US" altLang="ja-JP" dirty="0">
                <a:solidFill>
                  <a:srgbClr val="FFFFFF">
                    <a:lumMod val="50000"/>
                  </a:srgbClr>
                </a:solidFill>
              </a:rPr>
              <a:t>/</a:t>
            </a:r>
            <a:r>
              <a:rPr lang="en-US" altLang="ja-JP" dirty="0" err="1">
                <a:solidFill>
                  <a:srgbClr val="FFFFFF">
                    <a:lumMod val="50000"/>
                  </a:srgbClr>
                </a:solidFill>
              </a:rPr>
              <a:t>jp</a:t>
            </a:r>
            <a:r>
              <a:rPr lang="en-US" altLang="ja-JP" dirty="0">
                <a:solidFill>
                  <a:srgbClr val="FFFFFF">
                    <a:lumMod val="50000"/>
                  </a:srgbClr>
                </a:solidFill>
              </a:rPr>
              <a:t>/smartphones/galaxy-z-fold8-ultra/</a:t>
            </a:r>
            <a:r>
              <a:rPr lang="ja-JP" altLang="en-US"/>
              <a:t>、</a:t>
            </a:r>
            <a:r>
              <a:rPr lang="en-US" altLang="ja-JP" dirty="0"/>
              <a:t>https://</a:t>
            </a:r>
            <a:r>
              <a:rPr lang="en-US" altLang="ja-JP" dirty="0" err="1"/>
              <a:t>www.samsung.com</a:t>
            </a:r>
            <a:r>
              <a:rPr lang="en-US" altLang="ja-JP" dirty="0"/>
              <a:t>/</a:t>
            </a:r>
            <a:r>
              <a:rPr lang="en-US" altLang="ja-JP" dirty="0" err="1"/>
              <a:t>jp</a:t>
            </a:r>
            <a:r>
              <a:rPr lang="en-US" altLang="ja-JP" dirty="0"/>
              <a:t>/smartphones/galaxy-z-fold8-ultra/buy/</a:t>
            </a:r>
            <a:endParaRPr lang="en" altLang="ja-JP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83093C6E-2ADC-D009-BFF3-370050C8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ja-JP" sz="1800" dirty="0"/>
              <a:t>Fold8 Ultra PD </a:t>
            </a:r>
            <a:r>
              <a:rPr lang="en" altLang="ja-JP" sz="1800" dirty="0"/>
              <a:t>Visit </a:t>
            </a:r>
            <a:r>
              <a:rPr lang="en-US" altLang="ja-JP" sz="1800" dirty="0"/>
              <a:t>8.6K</a:t>
            </a:r>
            <a:r>
              <a:rPr lang="en" altLang="ja-JP" sz="1800" dirty="0"/>
              <a:t> </a:t>
            </a:r>
            <a:r>
              <a:rPr lang="en" altLang="ja-JP" sz="1400" dirty="0"/>
              <a:t>(</a:t>
            </a:r>
            <a:r>
              <a:rPr lang="en-US" altLang="ja-JP" sz="1400" dirty="0">
                <a:solidFill>
                  <a:srgbClr val="FF0000"/>
                </a:solidFill>
              </a:rPr>
              <a:t>x0.50 </a:t>
            </a:r>
            <a:r>
              <a:rPr lang="en" altLang="ja-JP" sz="1400" dirty="0"/>
              <a:t>vs </a:t>
            </a:r>
            <a:r>
              <a:rPr lang="ja-JP" altLang="en-US" sz="1400"/>
              <a:t>先週</a:t>
            </a:r>
            <a:r>
              <a:rPr lang="en-US" altLang="ja-JP" sz="1400" dirty="0"/>
              <a:t>)</a:t>
            </a:r>
            <a:r>
              <a:rPr lang="ja-JP" altLang="en-US" sz="1800">
                <a:solidFill>
                  <a:srgbClr val="1E36E3"/>
                </a:solidFill>
              </a:rPr>
              <a:t> </a:t>
            </a:r>
            <a:r>
              <a:rPr lang="ja-JP" altLang="en-US" sz="1400">
                <a:solidFill>
                  <a:srgbClr val="1E35E3"/>
                </a:solidFill>
              </a:rPr>
              <a:t>→</a:t>
            </a:r>
            <a:r>
              <a:rPr lang="en-US" altLang="ja-JP" sz="1400" dirty="0">
                <a:solidFill>
                  <a:srgbClr val="1E35E3"/>
                </a:solidFill>
              </a:rPr>
              <a:t> Display AD</a:t>
            </a:r>
            <a:r>
              <a:rPr lang="ja-JP" altLang="en-US" sz="1400">
                <a:solidFill>
                  <a:srgbClr val="1E35E3"/>
                </a:solidFill>
              </a:rPr>
              <a:t>から</a:t>
            </a:r>
            <a:r>
              <a:rPr lang="en-US" altLang="ja-JP" sz="1400" dirty="0">
                <a:solidFill>
                  <a:srgbClr val="1E35E3"/>
                </a:solidFill>
              </a:rPr>
              <a:t>A</a:t>
            </a:r>
            <a:r>
              <a:rPr lang="ja-JP" altLang="en-US" sz="1400">
                <a:solidFill>
                  <a:srgbClr val="1E35E3"/>
                </a:solidFill>
              </a:rPr>
              <a:t>社ユーザーの流入が減少</a:t>
            </a:r>
            <a:r>
              <a:rPr lang="en-US" altLang="ja-JP" sz="1800" kern="1200" dirty="0">
                <a:solidFill>
                  <a:srgbClr val="1E35E3"/>
                </a:solidFill>
              </a:rPr>
              <a:t> </a:t>
            </a:r>
            <a:br>
              <a:rPr lang="en-US" altLang="ja-JP" sz="1800" kern="1200" dirty="0">
                <a:solidFill>
                  <a:srgbClr val="1E36E3"/>
                </a:solidFill>
              </a:rPr>
            </a:br>
            <a:r>
              <a:rPr lang="en-US" altLang="ja-JP" sz="1800" dirty="0"/>
              <a:t>Fold8 Ultra </a:t>
            </a:r>
            <a:r>
              <a:rPr lang="en" altLang="ja-JP" sz="1800" dirty="0"/>
              <a:t>BC Visit </a:t>
            </a:r>
            <a:r>
              <a:rPr lang="en-US" altLang="ja-JP" sz="1800" dirty="0"/>
              <a:t>83K</a:t>
            </a:r>
            <a:r>
              <a:rPr lang="en" altLang="ja-JP" sz="1800" dirty="0"/>
              <a:t> </a:t>
            </a:r>
            <a:r>
              <a:rPr lang="en" altLang="ja-JP" sz="1400" dirty="0"/>
              <a:t>(</a:t>
            </a:r>
            <a:r>
              <a:rPr lang="en-US" altLang="ja-JP" sz="1400" dirty="0">
                <a:solidFill>
                  <a:srgbClr val="FF0000"/>
                </a:solidFill>
              </a:rPr>
              <a:t>x0.91 </a:t>
            </a:r>
            <a:r>
              <a:rPr lang="en" altLang="ja-JP" sz="1400" dirty="0"/>
              <a:t>vs </a:t>
            </a:r>
            <a:r>
              <a:rPr lang="ja-JP" altLang="en-US" sz="1400"/>
              <a:t>先週</a:t>
            </a:r>
            <a:r>
              <a:rPr lang="en-US" altLang="ja-JP" sz="1400" dirty="0"/>
              <a:t>) , </a:t>
            </a:r>
            <a:r>
              <a:rPr lang="en" altLang="ja-JP" sz="1800" dirty="0"/>
              <a:t>PIV </a:t>
            </a:r>
            <a:r>
              <a:rPr lang="en-US" altLang="ja-JP" sz="1800" dirty="0">
                <a:solidFill>
                  <a:srgbClr val="000000"/>
                </a:solidFill>
              </a:rPr>
              <a:t>2.4K</a:t>
            </a:r>
            <a:r>
              <a:rPr lang="ja-JP" altLang="en-US" sz="1800">
                <a:solidFill>
                  <a:srgbClr val="000000"/>
                </a:solidFill>
              </a:rPr>
              <a:t>件 </a:t>
            </a:r>
            <a:r>
              <a:rPr lang="en-US" altLang="ja-JP" sz="1800" dirty="0">
                <a:solidFill>
                  <a:srgbClr val="000000"/>
                </a:solidFill>
              </a:rPr>
              <a:t>(</a:t>
            </a:r>
            <a:r>
              <a:rPr lang="en-US" altLang="ja-JP" sz="1800" dirty="0">
                <a:solidFill>
                  <a:srgbClr val="FF0000"/>
                </a:solidFill>
              </a:rPr>
              <a:t>x0.84</a:t>
            </a:r>
            <a:r>
              <a:rPr lang="en-US" altLang="ja-JP" sz="1800" dirty="0">
                <a:solidFill>
                  <a:srgbClr val="000000"/>
                </a:solidFill>
              </a:rPr>
              <a:t> vs </a:t>
            </a:r>
            <a:r>
              <a:rPr lang="ja-JP" altLang="en-US" sz="1800">
                <a:solidFill>
                  <a:srgbClr val="000000"/>
                </a:solidFill>
              </a:rPr>
              <a:t>先週</a:t>
            </a:r>
            <a:r>
              <a:rPr lang="en-US" altLang="ja-JP" sz="1800" dirty="0">
                <a:solidFill>
                  <a:srgbClr val="000000"/>
                </a:solidFill>
              </a:rPr>
              <a:t>)</a:t>
            </a:r>
            <a:endParaRPr sz="1400" b="1" i="0">
              <a:solidFill>
                <a:srgbClr val="1E35E3"/>
              </a:solidFill>
            </a:endParaRPr>
          </a:p>
        </p:txBody>
      </p:sp>
      <p:sp>
        <p:nvSpPr>
          <p:cNvPr id="17" name="テキスト プレースホルダー 1185">
            <a:extLst>
              <a:ext uri="{FF2B5EF4-FFF2-40B4-BE49-F238E27FC236}">
                <a16:creationId xmlns:a16="http://schemas.microsoft.com/office/drawing/2014/main" id="{51393457-A83D-AE73-0BA1-4A0E81A8040B}"/>
              </a:ext>
            </a:extLst>
          </p:cNvPr>
          <p:cNvSpPr txBox="1">
            <a:spLocks/>
          </p:cNvSpPr>
          <p:nvPr/>
        </p:nvSpPr>
        <p:spPr>
          <a:xfrm>
            <a:off x="334964" y="1202142"/>
            <a:ext cx="11522074" cy="4319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ja-JP" altLang="en-US" sz="1100" b="0" i="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4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800" indent="-172800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ja-JP" altLang="en-US">
                <a:solidFill>
                  <a:srgbClr val="000000"/>
                </a:solidFill>
              </a:rPr>
              <a:t>流入割合：</a:t>
            </a:r>
            <a:r>
              <a:rPr lang="en-US" altLang="ja-JP" dirty="0">
                <a:solidFill>
                  <a:srgbClr val="000000"/>
                </a:solidFill>
              </a:rPr>
              <a:t>Display AD 58%% &gt; Paid Search 33% &gt; Organic 5%</a:t>
            </a:r>
          </a:p>
          <a:p>
            <a:pPr marL="172800" indent="-172800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ja-JP" dirty="0">
                <a:solidFill>
                  <a:srgbClr val="000000"/>
                </a:solidFill>
              </a:rPr>
              <a:t>PIR</a:t>
            </a:r>
            <a:r>
              <a:rPr lang="ja-JP" altLang="en-US">
                <a:solidFill>
                  <a:srgbClr val="000000"/>
                </a:solidFill>
              </a:rPr>
              <a:t>：先週 </a:t>
            </a:r>
            <a:r>
              <a:rPr lang="en-US" altLang="ja-JP" dirty="0">
                <a:solidFill>
                  <a:srgbClr val="000000"/>
                </a:solidFill>
              </a:rPr>
              <a:t>2.6% → </a:t>
            </a:r>
            <a:r>
              <a:rPr lang="ja-JP" altLang="en-US">
                <a:solidFill>
                  <a:srgbClr val="000000"/>
                </a:solidFill>
              </a:rPr>
              <a:t>今週 </a:t>
            </a:r>
            <a:r>
              <a:rPr lang="en-US" altLang="ja-JP" dirty="0">
                <a:solidFill>
                  <a:srgbClr val="000000"/>
                </a:solidFill>
              </a:rPr>
              <a:t>2.6%</a:t>
            </a:r>
          </a:p>
          <a:p>
            <a:pPr marL="172800" indent="-172800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ja-JP" dirty="0">
                <a:solidFill>
                  <a:srgbClr val="000000"/>
                </a:solidFill>
              </a:rPr>
              <a:t>PIV</a:t>
            </a:r>
            <a:r>
              <a:rPr lang="ja-JP" altLang="en-US">
                <a:solidFill>
                  <a:srgbClr val="000000"/>
                </a:solidFill>
              </a:rPr>
              <a:t>端末別：</a:t>
            </a:r>
            <a:r>
              <a:rPr lang="en-US" altLang="ja-JP" dirty="0">
                <a:solidFill>
                  <a:srgbClr val="000000"/>
                </a:solidFill>
              </a:rPr>
              <a:t>Galaxy 1.0K</a:t>
            </a:r>
            <a:r>
              <a:rPr lang="ja-JP" altLang="en-US">
                <a:solidFill>
                  <a:srgbClr val="000000"/>
                </a:solidFill>
              </a:rPr>
              <a:t>件 </a:t>
            </a:r>
            <a:r>
              <a:rPr lang="en-US" altLang="ja-JP" dirty="0">
                <a:solidFill>
                  <a:srgbClr val="000000"/>
                </a:solidFill>
              </a:rPr>
              <a:t>(PIR 2.8%)</a:t>
            </a:r>
            <a:r>
              <a:rPr lang="ja-JP" altLang="en-US">
                <a:solidFill>
                  <a:srgbClr val="000000"/>
                </a:solidFill>
              </a:rPr>
              <a:t>、</a:t>
            </a:r>
            <a:r>
              <a:rPr lang="en-US" altLang="ja-JP" dirty="0">
                <a:solidFill>
                  <a:srgbClr val="000000"/>
                </a:solidFill>
              </a:rPr>
              <a:t>iPhone 637</a:t>
            </a:r>
            <a:r>
              <a:rPr lang="ja-JP" altLang="en-US">
                <a:solidFill>
                  <a:srgbClr val="000000"/>
                </a:solidFill>
              </a:rPr>
              <a:t>件 </a:t>
            </a:r>
            <a:r>
              <a:rPr lang="en-US" altLang="ja-JP" dirty="0">
                <a:solidFill>
                  <a:srgbClr val="000000"/>
                </a:solidFill>
              </a:rPr>
              <a:t>(PIR 2.6%)</a:t>
            </a:r>
            <a:r>
              <a:rPr lang="ja-JP" altLang="en-US">
                <a:solidFill>
                  <a:srgbClr val="000000"/>
                </a:solidFill>
              </a:rPr>
              <a:t>、</a:t>
            </a:r>
            <a:r>
              <a:rPr lang="en-US" altLang="ja-JP" dirty="0">
                <a:solidFill>
                  <a:srgbClr val="000000"/>
                </a:solidFill>
              </a:rPr>
              <a:t>Sony Xperia 83</a:t>
            </a:r>
            <a:r>
              <a:rPr lang="ja-JP" altLang="en-US">
                <a:solidFill>
                  <a:srgbClr val="000000"/>
                </a:solidFill>
              </a:rPr>
              <a:t>件 </a:t>
            </a:r>
            <a:r>
              <a:rPr lang="en-US" altLang="ja-JP" dirty="0">
                <a:solidFill>
                  <a:srgbClr val="000000"/>
                </a:solidFill>
              </a:rPr>
              <a:t>(PIR 2.3%)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7C2CD914-3088-0488-19A7-FC0F216D7652}"/>
              </a:ext>
            </a:extLst>
          </p:cNvPr>
          <p:cNvSpPr/>
          <p:nvPr/>
        </p:nvSpPr>
        <p:spPr bwMode="auto">
          <a:xfrm>
            <a:off x="334962" y="48744"/>
            <a:ext cx="1311931" cy="245740"/>
          </a:xfrm>
          <a:prstGeom prst="roundRect">
            <a:avLst/>
          </a:prstGeom>
          <a:solidFill>
            <a:schemeClr val="bg1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617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rPr>
              <a:t>vs 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rPr>
              <a:t>先週</a:t>
            </a:r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Samsung SS Head Bold" pitchFamily="2" charset="0"/>
            </a:endParaRP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E06912C0-852D-595C-DDDC-CBD156DEB41B}"/>
              </a:ext>
            </a:extLst>
          </p:cNvPr>
          <p:cNvSpPr txBox="1">
            <a:spLocks/>
          </p:cNvSpPr>
          <p:nvPr/>
        </p:nvSpPr>
        <p:spPr>
          <a:xfrm>
            <a:off x="1646893" y="61444"/>
            <a:ext cx="8841275" cy="245740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1" i="0" u="none" strike="noStrike" cap="none" spc="0" normalizeH="0" baseline="0">
                <a:ln>
                  <a:noFill/>
                </a:ln>
                <a:solidFill>
                  <a:srgbClr val="B5B5B5"/>
                </a:solidFill>
                <a:effectLst/>
                <a:uLnTx/>
                <a:uFillTx/>
                <a:latin typeface="Meiryo UI"/>
                <a:ea typeface="Meiryo UI" panose="020B0604030504040204" pitchFamily="34" charset="-128"/>
                <a:cs typeface="Samsung SS Head Bold" pitchFamily="2" charset="0"/>
              </a:defRPr>
            </a:lvl1pPr>
          </a:lstStyle>
          <a:p>
            <a:r>
              <a:rPr lang="en-US" altLang="ja-JP" sz="1200" dirty="0">
                <a:latin typeface="Meiryo UI" panose="020B0604030504040204" pitchFamily="34" charset="-128"/>
              </a:rPr>
              <a:t>Fold8 Ultra PD+BC Page</a:t>
            </a:r>
            <a:endParaRPr lang="ja-JP" altLang="en-US" sz="1200">
              <a:latin typeface="Meiryo UI" panose="020B0604030504040204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E90ABE0-DCE7-4CE8-0E4C-AB3F08CF17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52"/>
          <a:stretch>
            <a:fillRect/>
          </a:stretch>
        </p:blipFill>
        <p:spPr>
          <a:xfrm>
            <a:off x="492447" y="2405373"/>
            <a:ext cx="2046176" cy="40496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431738F-2D69-CB8E-F778-DA008976B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591327"/>
              </p:ext>
            </p:extLst>
          </p:nvPr>
        </p:nvGraphicFramePr>
        <p:xfrm>
          <a:off x="2780777" y="2283773"/>
          <a:ext cx="9076247" cy="3497566"/>
        </p:xfrm>
        <a:graphic>
          <a:graphicData uri="http://schemas.openxmlformats.org/drawingml/2006/table">
            <a:tbl>
              <a:tblPr/>
              <a:tblGrid>
                <a:gridCol w="716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3298049035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30664424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385042338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378991326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397074231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270318181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4288977540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1990352784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001181852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1757721707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26025412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1185940158"/>
                    </a:ext>
                  </a:extLst>
                </a:gridCol>
                <a:gridCol w="522495">
                  <a:extLst>
                    <a:ext uri="{9D8B030D-6E8A-4147-A177-3AD203B41FA5}">
                      <a16:colId xmlns:a16="http://schemas.microsoft.com/office/drawing/2014/main" val="904480083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" altLang="ja-JP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Fold8 Ultra </a:t>
                      </a:r>
                      <a:br>
                        <a:rPr lang="en" altLang="ja-JP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</a:br>
                      <a:r>
                        <a:rPr lang="en" altLang="ja-JP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PD+BC</a:t>
                      </a:r>
                    </a:p>
                  </a:txBody>
                  <a:tcPr marL="9404" marR="9404" marT="940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10000"/>
                      </a:srgb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2 Weeks ago</a:t>
                      </a:r>
                      <a:endParaRPr kumimoji="1" lang="en-US" altLang="ja-JP" sz="800" b="1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800" b="1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Last Week </a:t>
                      </a:r>
                      <a:r>
                        <a:rPr kumimoji="1" lang="en-US" altLang="ja-JP" sz="700" b="1" i="0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(26/9/21 ~ 26/9/27)</a:t>
                      </a: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800" b="1" i="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7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PD</a:t>
                      </a:r>
                    </a:p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Visit</a:t>
                      </a: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PD</a:t>
                      </a:r>
                      <a:r>
                        <a:rPr lang="ja-JP" altLang="en-US" sz="7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→</a:t>
                      </a:r>
                      <a:r>
                        <a:rPr lang="en" altLang="ja-JP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BC</a:t>
                      </a:r>
                    </a:p>
                  </a:txBody>
                  <a:tcPr marL="9524" marR="9524" marT="9526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BC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Visit</a:t>
                      </a:r>
                    </a:p>
                  </a:txBody>
                  <a:tcPr marL="9524" marR="9524" marT="9526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ja-JP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Carrier</a:t>
                      </a:r>
                    </a:p>
                    <a:p>
                      <a:pPr algn="ctr" rtl="0" fontAlgn="ctr"/>
                      <a:r>
                        <a:rPr kumimoji="1" lang="en-US" altLang="ja-JP" sz="7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PIV</a:t>
                      </a:r>
                      <a:endParaRPr lang="en" sz="7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harp Sans Regular" pitchFamily="2" charset="0"/>
                      </a:endParaRPr>
                    </a:p>
                  </a:txBody>
                  <a:tcPr marL="9524" marR="9524" marT="9526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eStore</a:t>
                      </a:r>
                      <a:r>
                        <a:rPr lang="en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 PIV</a:t>
                      </a:r>
                    </a:p>
                  </a:txBody>
                  <a:tcPr marL="9524" marR="9524" marT="9526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PIR</a:t>
                      </a:r>
                    </a:p>
                  </a:txBody>
                  <a:tcPr marL="9524" marR="9524" marT="9526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Fold8 Ultra</a:t>
                      </a:r>
                    </a:p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Order</a:t>
                      </a:r>
                    </a:p>
                  </a:txBody>
                  <a:tcPr marL="9524" marR="9524" marT="9526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" altLang="ja-JP" sz="7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  <a:sym typeface="Meiryo UI"/>
                        </a:rPr>
                        <a:t>PD</a:t>
                      </a:r>
                    </a:p>
                    <a:p>
                      <a:pPr algn="ctr" rtl="0" fontAlgn="ctr"/>
                      <a:r>
                        <a:rPr kumimoji="1" lang="en" altLang="ja-JP" sz="7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  <a:sym typeface="Meiryo UI"/>
                        </a:rPr>
                        <a:t>Visit </a:t>
                      </a: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対先週</a:t>
                      </a:r>
                      <a:endParaRPr lang="en" altLang="ja-JP" sz="700" b="1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harp Sans Regular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PD</a:t>
                      </a:r>
                      <a:r>
                        <a:rPr lang="ja-JP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→</a:t>
                      </a:r>
                      <a:r>
                        <a:rPr lang="en" altLang="ja-JP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BC</a:t>
                      </a: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BC</a:t>
                      </a:r>
                    </a:p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Visit</a:t>
                      </a: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対先週</a:t>
                      </a:r>
                      <a:endParaRPr lang="en" altLang="ja-JP" sz="700" b="1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harp Sans Regular" pitchFamily="2" charset="0"/>
                      </a:endParaRP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ja-JP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Carrier</a:t>
                      </a:r>
                    </a:p>
                    <a:p>
                      <a:pPr algn="ctr" rtl="0" fontAlgn="ctr"/>
                      <a:r>
                        <a:rPr kumimoji="1" lang="en-US" altLang="ja-JP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PIV</a:t>
                      </a:r>
                      <a:endParaRPr lang="en" sz="700" b="1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harp Sans Regular" pitchFamily="2" charset="0"/>
                      </a:endParaRP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eStore</a:t>
                      </a:r>
                      <a:r>
                        <a:rPr lang="en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 PIV</a:t>
                      </a: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PIR</a:t>
                      </a: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harp Sans Regular" pitchFamily="2" charset="0"/>
                        </a:rPr>
                        <a:t>Fold8 Ultra Order</a:t>
                      </a:r>
                    </a:p>
                  </a:txBody>
                  <a:tcPr marL="9524" marR="9524" marT="952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App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496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19.7%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31F4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x1.82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478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x0.96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19.5%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918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Organic Search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6,048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827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5,389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156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430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5.1%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3,998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x0.66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541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3,837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x0.71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121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288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5.2%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8295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Direct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645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7.2%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343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x0.65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507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x0.79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6.7%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Referral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296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320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13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28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6.7%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x0.81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265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x0.83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9.7%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3251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Owned Social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44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4.7%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31F4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x1.41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x0.64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1.2%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Social Network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1.4%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x0.40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31F4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x1.00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6.7%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CRM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1,120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2,695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43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2.7%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552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x0.49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2,035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x0.76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2.5%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Paid Search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2,591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470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31,270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252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695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2.8%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2,376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x0.92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385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27,353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x0.87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250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547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2.7%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Display AD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6,328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202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49,687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451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521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1.7%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966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x0.15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159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48,282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x0.97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412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488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1.8%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17,010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1,719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90,572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982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1,856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2.6%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109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8,572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x0.50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1,216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82,811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x0.91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854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1,523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2.6%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4E92FDE-F184-4925-7C27-E3E4B7370F1C}"/>
              </a:ext>
            </a:extLst>
          </p:cNvPr>
          <p:cNvCxnSpPr>
            <a:cxnSpLocks/>
          </p:cNvCxnSpPr>
          <p:nvPr/>
        </p:nvCxnSpPr>
        <p:spPr>
          <a:xfrm>
            <a:off x="9991586" y="5834329"/>
            <a:ext cx="0" cy="1380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B46B9B-FC3A-7FF1-DCF5-C63007799D25}"/>
              </a:ext>
            </a:extLst>
          </p:cNvPr>
          <p:cNvSpPr/>
          <p:nvPr/>
        </p:nvSpPr>
        <p:spPr>
          <a:xfrm>
            <a:off x="9548653" y="5966743"/>
            <a:ext cx="1043541" cy="51528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72000" rtlCol="0" anchor="ctr"/>
          <a:lstStyle/>
          <a:p>
            <a:pPr lvl="0" algn="r" defTabSz="914400">
              <a:defRPr/>
            </a:pPr>
            <a:r>
              <a:rPr kumimoji="1" lang="en-US" altLang="ja-JP" sz="800" b="1" dirty="0" err="1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docomo</a:t>
            </a: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393</a:t>
            </a:r>
            <a:endParaRPr kumimoji="1" lang="en-US" altLang="ja-JP" sz="800" dirty="0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r" defTabSz="914400">
              <a:defRPr/>
            </a:pP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 247</a:t>
            </a:r>
            <a:endParaRPr kumimoji="1" lang="en-US" altLang="ja-JP" sz="800" dirty="0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r" defTabSz="914400">
              <a:defRPr/>
            </a:pP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SoftBank 123</a:t>
            </a:r>
            <a:endParaRPr kumimoji="1" lang="en-US" altLang="ja-JP" sz="800" dirty="0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r" defTabSz="914400">
              <a:defRPr/>
            </a:pP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Rakuten</a:t>
            </a:r>
            <a:r>
              <a:rPr kumimoji="1" lang="en-US" altLang="ja-JP" sz="800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91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F218424-3A52-B2D5-23C8-F88C4EEDFFF9}"/>
              </a:ext>
            </a:extLst>
          </p:cNvPr>
          <p:cNvSpPr txBox="1"/>
          <p:nvPr/>
        </p:nvSpPr>
        <p:spPr>
          <a:xfrm>
            <a:off x="9523253" y="6496823"/>
            <a:ext cx="1335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*</a:t>
            </a:r>
            <a:r>
              <a:rPr kumimoji="0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その他</a:t>
            </a:r>
            <a:r>
              <a:rPr kumimoji="0" lang="en" altLang="ja-JP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Stock Alert PIV</a:t>
            </a:r>
            <a:r>
              <a:rPr kumimoji="0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が発生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681C387-2625-501D-9FB8-962D12B3759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339096" y="5834329"/>
            <a:ext cx="0" cy="13241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5E7F88C-CF22-0550-4858-95123F46CCF8}"/>
              </a:ext>
            </a:extLst>
          </p:cNvPr>
          <p:cNvSpPr/>
          <p:nvPr/>
        </p:nvSpPr>
        <p:spPr>
          <a:xfrm>
            <a:off x="4817325" y="5966743"/>
            <a:ext cx="1043541" cy="51528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72000" rtlCol="0" anchor="ctr"/>
          <a:lstStyle/>
          <a:p>
            <a:pPr lvl="0" algn="r" defTabSz="914400">
              <a:defRPr/>
            </a:pPr>
            <a:r>
              <a:rPr kumimoji="1" lang="en-US" altLang="ja-JP" sz="800" b="1" dirty="0" err="1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docomo</a:t>
            </a: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524</a:t>
            </a:r>
            <a:endParaRPr kumimoji="1" lang="en-US" altLang="ja-JP" sz="800" dirty="0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r" defTabSz="914400">
              <a:defRPr/>
            </a:pP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 247</a:t>
            </a:r>
            <a:endParaRPr kumimoji="1" lang="en-US" altLang="ja-JP" sz="800" dirty="0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r" defTabSz="914400">
              <a:defRPr/>
            </a:pP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SoftBank 121</a:t>
            </a:r>
            <a:endParaRPr kumimoji="1" lang="en-US" altLang="ja-JP" sz="800" dirty="0">
              <a:solidFill>
                <a:srgbClr val="00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 algn="r" defTabSz="914400">
              <a:defRPr/>
            </a:pP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Rakuten</a:t>
            </a:r>
            <a:r>
              <a:rPr kumimoji="1" lang="en-US" altLang="ja-JP" sz="800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ja-JP" sz="800" b="1" dirty="0">
                <a:solidFill>
                  <a:srgbClr val="00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90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37C8AA-3C70-3600-08D9-AC9B4D5C85EA}"/>
              </a:ext>
            </a:extLst>
          </p:cNvPr>
          <p:cNvSpPr txBox="1"/>
          <p:nvPr/>
        </p:nvSpPr>
        <p:spPr>
          <a:xfrm>
            <a:off x="4732283" y="6509523"/>
            <a:ext cx="1335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5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*</a:t>
            </a:r>
            <a:r>
              <a:rPr kumimoji="0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その他</a:t>
            </a:r>
            <a:r>
              <a:rPr kumimoji="0" lang="en" altLang="ja-JP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Stock Alert PIV</a:t>
            </a:r>
            <a:r>
              <a:rPr kumimoji="0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</a:rPr>
              <a:t>が発生</a:t>
            </a:r>
          </a:p>
        </p:txBody>
      </p:sp>
    </p:spTree>
    <p:extLst>
      <p:ext uri="{BB962C8B-B14F-4D97-AF65-F5344CB8AC3E}">
        <p14:creationId xmlns:p14="http://schemas.microsoft.com/office/powerpoint/2010/main" val="50344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5ECF-62F8-4A4C-5A48-739B97F3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EFB14CD7-D5A3-1512-324B-7F5759ACC7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6893" y="22089"/>
            <a:ext cx="10545107" cy="300732"/>
          </a:xfrm>
        </p:spPr>
        <p:txBody>
          <a:bodyPr wrap="square" anchor="ctr">
            <a:noAutofit/>
          </a:bodyPr>
          <a:lstStyle/>
          <a:p>
            <a:pPr algn="l" rtl="0"/>
            <a:r>
              <a:rPr lang="en-US" altLang="ja-JP" kern="1200" dirty="0">
                <a:solidFill>
                  <a:srgbClr val="B5B5B5"/>
                </a:solidFill>
                <a:latin typeface="Meiryo UI"/>
                <a:cs typeface="Samsung SS Head Bold" pitchFamily="2" charset="0"/>
              </a:rPr>
              <a:t>Z Fold8 Ultra BC Page </a:t>
            </a:r>
            <a:r>
              <a:rPr lang="ja-JP" altLang="en-US" kern="1200">
                <a:solidFill>
                  <a:srgbClr val="B5B5B5"/>
                </a:solidFill>
                <a:latin typeface="Meiryo UI"/>
                <a:cs typeface="Samsung SS Head Bold" pitchFamily="2" charset="0"/>
              </a:rPr>
              <a:t>経路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168EECBB-AF34-E24F-B5C7-0FABA4C08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142305"/>
              </p:ext>
            </p:extLst>
          </p:nvPr>
        </p:nvGraphicFramePr>
        <p:xfrm>
          <a:off x="1254620" y="2167523"/>
          <a:ext cx="10602416" cy="3738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3856">
                  <a:extLst>
                    <a:ext uri="{9D8B030D-6E8A-4147-A177-3AD203B41FA5}">
                      <a16:colId xmlns:a16="http://schemas.microsoft.com/office/drawing/2014/main" val="601082576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2973319052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3413504942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1490039795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1980569578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2570685179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2068424778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469816845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2354633795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875338223"/>
                    </a:ext>
                  </a:extLst>
                </a:gridCol>
                <a:gridCol w="963856">
                  <a:extLst>
                    <a:ext uri="{9D8B030D-6E8A-4147-A177-3AD203B41FA5}">
                      <a16:colId xmlns:a16="http://schemas.microsoft.com/office/drawing/2014/main" val="352065791"/>
                    </a:ext>
                  </a:extLst>
                </a:gridCol>
              </a:tblGrid>
              <a:tr h="195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BC Page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Visit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Cart Add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Event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add 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Visit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Cart </a:t>
                      </a:r>
                      <a:r>
                        <a:rPr kumimoji="1" lang="en" altLang="ja-JP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Page</a:t>
                      </a:r>
                      <a:endParaRPr kumimoji="1" lang="en" sz="900" b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Visit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Samsung Sharp Sans" panose="02000503000000020004" pitchFamily="2" charset="0"/>
                          <a:cs typeface="Samsung SS Head Bold" pitchFamily="2" charset="0"/>
                        </a:rPr>
                        <a:t>Checkout</a:t>
                      </a:r>
                      <a:r>
                        <a:rPr kumimoji="1" lang="en-US" altLang="ja-JP" sz="9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Samsung SS Head Bold" pitchFamily="2" charset="0"/>
                          <a:ea typeface="Samsung Sharp Sans" panose="02000503000000020004" pitchFamily="2" charset="0"/>
                          <a:cs typeface="Samsung SS Head Bold" pitchFamily="2" charset="0"/>
                        </a:rPr>
                        <a:t> One </a:t>
                      </a:r>
                      <a:br>
                        <a:rPr kumimoji="1" lang="en-US" altLang="ja-JP" sz="9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Samsung SS Head Bold" pitchFamily="2" charset="0"/>
                          <a:ea typeface="Samsung Sharp Sans" panose="02000503000000020004" pitchFamily="2" charset="0"/>
                          <a:cs typeface="Samsung SS Head Bold" pitchFamily="2" charset="0"/>
                        </a:rPr>
                      </a:br>
                      <a:r>
                        <a:rPr kumimoji="1" lang="en-US" altLang="ja-JP" sz="9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Samsung SS Head Bold" pitchFamily="2" charset="0"/>
                          <a:ea typeface="Samsung Sharp Sans" panose="02000503000000020004" pitchFamily="2" charset="0"/>
                          <a:cs typeface="Samsung SS Head Bold" pitchFamily="2" charset="0"/>
                        </a:rPr>
                        <a:t>(Login)</a:t>
                      </a:r>
                      <a:endParaRPr kumimoji="1" lang="en" altLang="ja-JP" sz="9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uLnTx/>
                        <a:uFillTx/>
                        <a:latin typeface="Samsung SS Head Bold" pitchFamily="2" charset="0"/>
                        <a:ea typeface="Samsung Sharp Sans" panose="02000503000000020004" pitchFamily="2" charset="0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CONTACT_INFO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DELIVERY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PAYMENT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Samsung Sharp Sans" panose="02000503000000020004" pitchFamily="2" charset="0"/>
                          <a:cs typeface="Samsung SS Head Bold" pitchFamily="2" charset="0"/>
                        </a:rPr>
                        <a:t>Payment Service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Order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Confirmation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sz="9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Order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528609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" sz="800" b="1" i="0" u="none" strike="noStrike" dirty="0"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32057"/>
                  </a:ext>
                </a:extLst>
              </a:tr>
              <a:tr h="1736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3,837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182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142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88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74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600" b="1" i="0" u="none" strike="noStrike">
                        <a:solidFill>
                          <a:srgbClr val="8395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554641"/>
                  </a:ext>
                </a:extLst>
              </a:tr>
              <a:tr h="17367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5,389)</a:t>
                      </a:r>
                      <a:endParaRPr kumimoji="1" lang="en-US" altLang="ja-JP" sz="800" b="1" i="0" u="none" strike="noStrike" dirty="0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432)</a:t>
                      </a:r>
                      <a:endParaRPr kumimoji="1" lang="ja-JP" altLang="en-US" sz="800" b="1" i="0">
                        <a:solidFill>
                          <a:srgbClr val="8296B2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rgbClr val="8296B2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240)</a:t>
                      </a:r>
                      <a:endParaRPr kumimoji="1" lang="ja-JP" altLang="en-US" sz="800" b="1" i="0">
                        <a:solidFill>
                          <a:srgbClr val="8296B2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30)</a:t>
                      </a:r>
                      <a:endParaRPr kumimoji="1" lang="ja-JP" altLang="en-US" sz="800" b="1" i="0">
                        <a:solidFill>
                          <a:schemeClr val="bg1">
                            <a:lumMod val="95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50904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395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FFFFF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02371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移動率</a:t>
                      </a:r>
                      <a:endParaRPr lang="en-US" altLang="ja-JP" sz="800" b="1" i="0" u="none" strike="noStrike" dirty="0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7.5%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5.2%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4.7%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3.7%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2.3%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1.9%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8395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709321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</a:t>
                      </a:r>
                      <a:endParaRPr lang="en-US" altLang="ja-JP" sz="800" b="1" i="0" u="none" strike="noStrike" dirty="0">
                        <a:solidFill>
                          <a:srgbClr val="8296B2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8.0%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4.9%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4.5%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3.1%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1.9%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8296B2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820628"/>
                  </a:ext>
                </a:extLst>
              </a:tr>
              <a:tr h="4341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FFFFF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954158"/>
                  </a:ext>
                </a:extLst>
              </a:tr>
              <a:tr h="1736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3,339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143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130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92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6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281690"/>
                  </a:ext>
                </a:extLst>
              </a:tr>
              <a:tr h="17367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4,226)</a:t>
                      </a:r>
                      <a:endParaRPr kumimoji="1" lang="ja-JP" altLang="en-US" sz="800" b="1" i="0">
                        <a:solidFill>
                          <a:schemeClr val="bg1">
                            <a:lumMod val="50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210)</a:t>
                      </a:r>
                      <a:endParaRPr kumimoji="1" lang="ja-JP" altLang="en-US" sz="800" b="1" i="0">
                        <a:solidFill>
                          <a:schemeClr val="bg1">
                            <a:lumMod val="50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85)</a:t>
                      </a:r>
                      <a:endParaRPr kumimoji="1" lang="ja-JP" altLang="en-US" sz="800" b="1" i="0">
                        <a:solidFill>
                          <a:schemeClr val="bg1">
                            <a:lumMod val="50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23)</a:t>
                      </a:r>
                      <a:endParaRPr kumimoji="1" lang="ja-JP" altLang="en-US" sz="800" b="1" i="0">
                        <a:solidFill>
                          <a:schemeClr val="bg1">
                            <a:lumMod val="95000"/>
                          </a:schemeClr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084369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FFFFF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94850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移動率</a:t>
                      </a:r>
                      <a:endParaRPr lang="en-US" altLang="ja-JP" sz="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6.0%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4.3%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3.9%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2.8%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2.4%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375322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5.0%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3.3%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2.8%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68143"/>
                  </a:ext>
                </a:extLst>
              </a:tr>
              <a:tr h="3473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FFFFF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800" b="1" i="0">
                        <a:solidFill>
                          <a:schemeClr val="bg1"/>
                        </a:solidFill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BFBFB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BFBFB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sz="800" b="1" i="0" u="none" strike="noStrike">
                        <a:solidFill>
                          <a:srgbClr val="FFFFF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447129"/>
                  </a:ext>
                </a:extLst>
              </a:tr>
              <a:tr h="1736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75,635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1,035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753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635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361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214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175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145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6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chemeClr val="bg1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41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44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41110"/>
                  </a:ext>
                </a:extLst>
              </a:tr>
              <a:tr h="17367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80,957)</a:t>
                      </a:r>
                      <a:endParaRPr kumimoji="1" lang="ja-JP" altLang="en-US" sz="800" b="1" i="0">
                        <a:solidFill>
                          <a:srgbClr val="0070C0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1,216)</a:t>
                      </a:r>
                      <a:endParaRPr kumimoji="1" lang="ja-JP" altLang="en-US" sz="800" b="1" i="0">
                        <a:solidFill>
                          <a:srgbClr val="0070C0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800" b="1" i="0" u="none" strike="noStrike" dirty="0">
                        <a:solidFill>
                          <a:srgbClr val="0070C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rgbClr val="0070C0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728)</a:t>
                      </a:r>
                      <a:endParaRPr kumimoji="1" lang="ja-JP" altLang="en-US" sz="800" b="1" i="0">
                        <a:solidFill>
                          <a:srgbClr val="0070C0"/>
                        </a:solidFill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8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(</a:t>
                      </a:r>
                      <a:r>
                        <a:rPr kumimoji="1" lang="ja-JP" altLang="en-US" sz="800" b="1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先週：</a:t>
                      </a:r>
                      <a:r>
                        <a:rPr kumimoji="1" lang="en-US" altLang="ja-JP" sz="800" b="1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56)</a:t>
                      </a:r>
                      <a:r>
                        <a:rPr lang="ja-JP" altLang="ja-JP" sz="800" b="1" i="0" u="none" strike="noStrike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942817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chemeClr val="bg1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FFFFFF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759884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移動率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1.4%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0.8%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0.3%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0.1%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0.1%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47145"/>
                  </a:ext>
                </a:extLst>
              </a:tr>
              <a:tr h="86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先週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1.1%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0.9%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0070C0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0.2%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800" b="1" i="0" u="none" strike="noStrike">
                        <a:solidFill>
                          <a:srgbClr val="0070C0"/>
                        </a:solidFill>
                        <a:effectLst/>
                        <a:latin typeface="Samsung SS Head Bold" pitchFamily="2" charset="0"/>
                        <a:ea typeface="Meiryo UI" panose="020B0604030504040204" pitchFamily="34" charset="-128"/>
                        <a:cs typeface="Samsung SS Head Bold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chemeClr val="bg1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0.1%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800" b="1" i="0" u="none" strike="noStrike">
                          <a:solidFill>
                            <a:srgbClr val="FFFFFF"/>
                          </a:solidFill>
                          <a:effectLst/>
                          <a:latin typeface="Samsung SS Head Bold" pitchFamily="2" charset="0"/>
                          <a:ea typeface="Meiryo UI" panose="020B0604030504040204" pitchFamily="34" charset="-128"/>
                          <a:cs typeface="Samsung SS Head Bold" pitchFamily="2" charset="0"/>
                        </a:rPr>
                        <a:t>0.1%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802588"/>
                  </a:ext>
                </a:extLst>
              </a:tr>
            </a:tbl>
          </a:graphicData>
        </a:graphic>
      </p:graphicFrame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5B2699BC-7781-4900-C473-AE025071BDE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254620" y="6041210"/>
            <a:ext cx="10349478" cy="150040"/>
          </a:xfrm>
        </p:spPr>
        <p:txBody>
          <a:bodyPr vert="horz" lIns="0" tIns="36000" rIns="0" bIns="36000" rtlCol="0" anchor="b">
            <a:noAutofit/>
          </a:bodyPr>
          <a:lstStyle/>
          <a:p>
            <a:pPr marL="171450" indent="-171450" algn="l" rtl="0">
              <a:buClr>
                <a:prstClr val="white">
                  <a:lumMod val="50000"/>
                </a:prstClr>
              </a:buClr>
              <a:buFont typeface="Meiryo UI" panose="020B0604030504040204" pitchFamily="34" charset="-128"/>
              <a:buChar char="※"/>
            </a:pPr>
            <a:r>
              <a:rPr lang="ja-JP" altLang="en-US">
                <a:solidFill>
                  <a:srgbClr val="FFFFFF">
                    <a:lumMod val="50000"/>
                  </a:srgbClr>
                </a:solidFill>
              </a:rPr>
              <a:t>パーセントは各項目</a:t>
            </a:r>
            <a:r>
              <a:rPr lang="en-US" altLang="ja-JP" dirty="0">
                <a:solidFill>
                  <a:srgbClr val="FFFFFF">
                    <a:lumMod val="50000"/>
                  </a:srgbClr>
                </a:solidFill>
              </a:rPr>
              <a:t>÷BC Visit</a:t>
            </a:r>
            <a:r>
              <a:rPr lang="ja-JP" altLang="en-US">
                <a:solidFill>
                  <a:srgbClr val="FFFFFF">
                    <a:lumMod val="50000"/>
                  </a:srgbClr>
                </a:solidFill>
              </a:rPr>
              <a:t>数</a:t>
            </a:r>
            <a:endParaRPr lang="en" altLang="ja-JP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99680FB-58D6-2BEA-FDD7-9CDF719A0E22}"/>
              </a:ext>
            </a:extLst>
          </p:cNvPr>
          <p:cNvSpPr txBox="1">
            <a:spLocks/>
          </p:cNvSpPr>
          <p:nvPr/>
        </p:nvSpPr>
        <p:spPr>
          <a:xfrm>
            <a:off x="438156" y="6381750"/>
            <a:ext cx="11350110" cy="476250"/>
          </a:xfrm>
          <a:prstGeom prst="rect">
            <a:avLst/>
          </a:prstGeom>
        </p:spPr>
        <p:txBody>
          <a:bodyPr vert="horz" lIns="0" tIns="36000" rIns="0" bIns="36000" rtlCol="0" anchor="b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dirty="0"/>
              <a:t>Data</a:t>
            </a:r>
            <a:r>
              <a:rPr lang="ja-JP" altLang="en"/>
              <a:t>：</a:t>
            </a:r>
            <a:r>
              <a:rPr lang="en" altLang="ja-JP" dirty="0"/>
              <a:t>2026/9/21 ~ 9/27 </a:t>
            </a:r>
            <a:endParaRPr lang="en-US" altLang="ja-JP" dirty="0"/>
          </a:p>
        </p:txBody>
      </p:sp>
      <p:sp>
        <p:nvSpPr>
          <p:cNvPr id="35" name="タイトル 34">
            <a:extLst>
              <a:ext uri="{FF2B5EF4-FFF2-40B4-BE49-F238E27FC236}">
                <a16:creationId xmlns:a16="http://schemas.microsoft.com/office/drawing/2014/main" id="{692B9A7B-BF08-90F3-02E0-C16062C13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1800" dirty="0"/>
              <a:t>Fold8 Ultra BC</a:t>
            </a:r>
            <a:r>
              <a:rPr lang="ja-JP" altLang="en-US" sz="1800"/>
              <a:t>から</a:t>
            </a:r>
            <a:r>
              <a:rPr lang="en-US" altLang="ja-JP" sz="1800" dirty="0"/>
              <a:t>Order</a:t>
            </a:r>
            <a:r>
              <a:rPr lang="ja-JP" altLang="en-US" sz="1800"/>
              <a:t>までの購入経路</a:t>
            </a:r>
            <a:endParaRPr lang="en-US" altLang="ja-JP" sz="1400" dirty="0"/>
          </a:p>
        </p:txBody>
      </p:sp>
      <p:sp>
        <p:nvSpPr>
          <p:cNvPr id="36" name="テキスト プレースホルダー 1185">
            <a:extLst>
              <a:ext uri="{FF2B5EF4-FFF2-40B4-BE49-F238E27FC236}">
                <a16:creationId xmlns:a16="http://schemas.microsoft.com/office/drawing/2014/main" id="{2E1100F1-A8E1-94B8-EB55-CB0E7B684DA1}"/>
              </a:ext>
            </a:extLst>
          </p:cNvPr>
          <p:cNvSpPr txBox="1">
            <a:spLocks/>
          </p:cNvSpPr>
          <p:nvPr/>
        </p:nvSpPr>
        <p:spPr>
          <a:xfrm>
            <a:off x="334964" y="1204452"/>
            <a:ext cx="11522074" cy="4319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ja-JP" altLang="en-US" sz="1100" b="0" i="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4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800" indent="-172800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ja-JP" dirty="0">
                <a:solidFill>
                  <a:srgbClr val="000000"/>
                </a:solidFill>
              </a:rPr>
              <a:t>Organic </a:t>
            </a:r>
            <a:r>
              <a:rPr lang="ja-JP" altLang="en-US">
                <a:solidFill>
                  <a:srgbClr val="000000"/>
                </a:solidFill>
              </a:rPr>
              <a:t>の</a:t>
            </a:r>
            <a:r>
              <a:rPr lang="en-US" altLang="ja-JP" dirty="0">
                <a:solidFill>
                  <a:srgbClr val="000000"/>
                </a:solidFill>
              </a:rPr>
              <a:t>BC Visit</a:t>
            </a:r>
            <a:r>
              <a:rPr lang="ja-JP" altLang="en-US">
                <a:solidFill>
                  <a:srgbClr val="000000"/>
                </a:solidFill>
              </a:rPr>
              <a:t>から</a:t>
            </a:r>
            <a:r>
              <a:rPr lang="en-US" altLang="ja-JP" dirty="0">
                <a:solidFill>
                  <a:srgbClr val="000000"/>
                </a:solidFill>
              </a:rPr>
              <a:t>Order</a:t>
            </a:r>
            <a:r>
              <a:rPr lang="ja-JP" altLang="en-US">
                <a:solidFill>
                  <a:srgbClr val="000000"/>
                </a:solidFill>
              </a:rPr>
              <a:t>までの</a:t>
            </a:r>
            <a:r>
              <a:rPr lang="en-US" altLang="ja-JP" dirty="0">
                <a:solidFill>
                  <a:srgbClr val="000000"/>
                </a:solidFill>
              </a:rPr>
              <a:t>CVR</a:t>
            </a:r>
            <a:r>
              <a:rPr lang="ja-JP" altLang="en-US">
                <a:solidFill>
                  <a:srgbClr val="000000"/>
                </a:solidFill>
              </a:rPr>
              <a:t>は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ja-JP" altLang="en-US">
                <a:solidFill>
                  <a:srgbClr val="000000"/>
                </a:solidFill>
              </a:rPr>
              <a:t>先週</a:t>
            </a:r>
            <a:r>
              <a:rPr lang="en-US" altLang="ja-JP" dirty="0">
                <a:solidFill>
                  <a:srgbClr val="000000"/>
                </a:solidFill>
              </a:rPr>
              <a:t> 0.56% </a:t>
            </a:r>
            <a:r>
              <a:rPr lang="ja-JP" altLang="en-US">
                <a:solidFill>
                  <a:srgbClr val="000000"/>
                </a:solidFill>
              </a:rPr>
              <a:t>→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ja-JP" altLang="en-US">
                <a:solidFill>
                  <a:srgbClr val="000000"/>
                </a:solidFill>
              </a:rPr>
              <a:t>今週</a:t>
            </a:r>
            <a:r>
              <a:rPr lang="en-US" altLang="ja-JP" dirty="0">
                <a:solidFill>
                  <a:srgbClr val="000000"/>
                </a:solidFill>
              </a:rPr>
              <a:t> 0.57%</a:t>
            </a:r>
          </a:p>
          <a:p>
            <a:pPr marL="172800" indent="-172800">
              <a:lnSpc>
                <a:spcPts val="182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ja-JP" dirty="0">
                <a:solidFill>
                  <a:srgbClr val="000000"/>
                </a:solidFill>
              </a:rPr>
              <a:t>Paid </a:t>
            </a:r>
            <a:r>
              <a:rPr lang="ja-JP" altLang="en-US">
                <a:solidFill>
                  <a:srgbClr val="000000"/>
                </a:solidFill>
              </a:rPr>
              <a:t>の</a:t>
            </a:r>
            <a:r>
              <a:rPr lang="en-US" altLang="ja-JP" dirty="0">
                <a:solidFill>
                  <a:srgbClr val="000000"/>
                </a:solidFill>
              </a:rPr>
              <a:t>BC Visit</a:t>
            </a:r>
            <a:r>
              <a:rPr lang="ja-JP" altLang="en-US">
                <a:solidFill>
                  <a:srgbClr val="000000"/>
                </a:solidFill>
              </a:rPr>
              <a:t>から</a:t>
            </a:r>
            <a:r>
              <a:rPr lang="en-US" altLang="ja-JP" dirty="0">
                <a:solidFill>
                  <a:srgbClr val="000000"/>
                </a:solidFill>
              </a:rPr>
              <a:t>Order</a:t>
            </a:r>
            <a:r>
              <a:rPr lang="ja-JP" altLang="en-US">
                <a:solidFill>
                  <a:srgbClr val="000000"/>
                </a:solidFill>
              </a:rPr>
              <a:t>までの</a:t>
            </a:r>
            <a:r>
              <a:rPr lang="en-US" altLang="ja-JP" dirty="0">
                <a:solidFill>
                  <a:srgbClr val="000000"/>
                </a:solidFill>
              </a:rPr>
              <a:t>CVR</a:t>
            </a:r>
            <a:r>
              <a:rPr lang="ja-JP" altLang="en-US">
                <a:solidFill>
                  <a:srgbClr val="000000"/>
                </a:solidFill>
              </a:rPr>
              <a:t>は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ja-JP" altLang="en-US">
                <a:solidFill>
                  <a:srgbClr val="000000"/>
                </a:solidFill>
              </a:rPr>
              <a:t>先週</a:t>
            </a:r>
            <a:r>
              <a:rPr lang="en-US" altLang="ja-JP" dirty="0">
                <a:solidFill>
                  <a:srgbClr val="000000"/>
                </a:solidFill>
              </a:rPr>
              <a:t> 0.07% </a:t>
            </a:r>
            <a:r>
              <a:rPr lang="ja-JP" altLang="en-US">
                <a:solidFill>
                  <a:srgbClr val="000000"/>
                </a:solidFill>
              </a:rPr>
              <a:t>→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ja-JP" altLang="en-US">
                <a:solidFill>
                  <a:srgbClr val="000000"/>
                </a:solidFill>
              </a:rPr>
              <a:t>今週</a:t>
            </a:r>
            <a:r>
              <a:rPr lang="en-US" altLang="ja-JP" dirty="0">
                <a:solidFill>
                  <a:srgbClr val="000000"/>
                </a:solidFill>
              </a:rPr>
              <a:t> 0.06%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C82841EF-2E93-B718-F9FE-AD9B46B1AFC6}"/>
              </a:ext>
            </a:extLst>
          </p:cNvPr>
          <p:cNvSpPr/>
          <p:nvPr/>
        </p:nvSpPr>
        <p:spPr bwMode="auto">
          <a:xfrm>
            <a:off x="334962" y="48744"/>
            <a:ext cx="1311931" cy="245740"/>
          </a:xfrm>
          <a:prstGeom prst="roundRect">
            <a:avLst/>
          </a:prstGeom>
          <a:solidFill>
            <a:schemeClr val="bg1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617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rPr>
              <a:t>vs </a:t>
            </a:r>
            <a:r>
              <a: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rPr>
              <a:t>先週</a:t>
            </a:r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Samsung SS Head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154179"/>
      </p:ext>
    </p:extLst>
  </p:cSld>
  <p:clrMapOvr>
    <a:masterClrMapping/>
  </p:clrMapOvr>
</p:sld>
</file>

<file path=ppt/theme/theme1.xml><?xml version="1.0" encoding="utf-8"?>
<a:theme xmlns:a="http://schemas.openxmlformats.org/drawingml/2006/main" name="1_samsungtheme">
  <a:themeElements>
    <a:clrScheme name="ユーザー定義 12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42526A"/>
      </a:accent1>
      <a:accent2>
        <a:srgbClr val="D5DCE7"/>
      </a:accent2>
      <a:accent3>
        <a:srgbClr val="DADADA"/>
      </a:accent3>
      <a:accent4>
        <a:srgbClr val="96D653"/>
      </a:accent4>
      <a:accent5>
        <a:srgbClr val="FFB545"/>
      </a:accent5>
      <a:accent6>
        <a:srgbClr val="FF433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solidFill>
            <a:srgbClr val="00206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04" rIns="0" bIns="45704" numCol="1" spcCol="0" rtlCol="0" anchor="t" anchorCtr="0" compatLnSpc="1">
        <a:prstTxWarp prst="textNoShape">
          <a:avLst/>
        </a:prstTxWarp>
        <a:noAutofit/>
      </a:bodyPr>
      <a:lstStyle>
        <a:defPPr algn="ctr" defTabSz="761739" fontAlgn="base" latinLnBrk="0">
          <a:spcBef>
            <a:spcPct val="0"/>
          </a:spcBef>
          <a:spcAft>
            <a:spcPct val="0"/>
          </a:spcAft>
          <a:defRPr kumimoji="1" sz="2100" b="1" dirty="0" smtClean="0">
            <a:latin typeface="Samsung Sharp Sans Bold" pitchFamily="2" charset="0"/>
            <a:ea typeface="맑은 고딕" panose="020B0503020000020004" pitchFamily="50" charset="-127"/>
            <a:cs typeface="Samsung Sharp Sans Bold" pitchFamily="2" charset="0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msungtheme" id="{C4274082-643E-9A44-AFE7-ACFEC47CED22}" vid="{E24C3D57-8EB8-7642-BF52-9C055228CD8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436076</TotalTime>
  <Words>686</Words>
  <Application>Microsoft Macintosh PowerPoint</Application>
  <PresentationFormat>ワイド画面</PresentationFormat>
  <Paragraphs>355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Samsung Sharp Sans Bold</vt:lpstr>
      <vt:lpstr>SamsungOne 400</vt:lpstr>
      <vt:lpstr>SamsungOne 700</vt:lpstr>
      <vt:lpstr>Arial</vt:lpstr>
      <vt:lpstr>Samsung SS Head Bold</vt:lpstr>
      <vt:lpstr>1_samsungtheme</vt:lpstr>
      <vt:lpstr>Fold8 Ultra PD Visit 8.6K (x0.50 vs 先週) → Display ADからA社ユーザーの流入が減少  Fold8 Ultra BC Visit 83K (x0.91 vs 先週) , PIV 2.4K件 (x0.84 vs 先週)</vt:lpstr>
      <vt:lpstr>Fold8 Ultra BCからOrderまでの購入経路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sej-user</dc:creator>
  <cp:lastModifiedBy>Ascent Networks</cp:lastModifiedBy>
  <cp:revision>54715</cp:revision>
  <cp:lastPrinted>2023-03-22T06:52:39Z</cp:lastPrinted>
  <dcterms:created xsi:type="dcterms:W3CDTF">2020-09-16T05:59:45Z</dcterms:created>
  <dcterms:modified xsi:type="dcterms:W3CDTF">2026-10-03T06:11:43Z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