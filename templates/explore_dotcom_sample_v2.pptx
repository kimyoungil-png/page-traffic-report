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6" r:id="rId1"/>
  </p:sldMasterIdLst>
  <p:notesMasterIdLst>
    <p:notesMasterId r:id="rId3"/>
  </p:notesMasterIdLst>
  <p:sldIdLst>
    <p:sldId id="515760569" r:id="rId2"/>
  </p:sldIdLst>
  <p:sldSz cx="12192000" cy="6858000"/>
  <p:notesSz cx="6858000" cy="9144000"/>
  <p:defaultTextStyle>
    <a:defPPr>
      <a:defRPr lang="en-US"/>
    </a:defPPr>
    <a:lvl1pPr marL="0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1pPr>
    <a:lvl2pPr marL="27719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2pPr>
    <a:lvl3pPr marL="554389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3pPr>
    <a:lvl4pPr marL="83158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4pPr>
    <a:lvl5pPr marL="1108779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5pPr>
    <a:lvl6pPr marL="1385974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6pPr>
    <a:lvl7pPr marL="1663168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7pPr>
    <a:lvl8pPr marL="1940363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8pPr>
    <a:lvl9pPr marL="2217557" algn="l" defTabSz="554389" rtl="0" eaLnBrk="1" latinLnBrk="0" hangingPunct="1">
      <a:defRPr sz="109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7" pos="3885" userDrawn="1">
          <p15:clr>
            <a:srgbClr val="A4A3A4"/>
          </p15:clr>
        </p15:guide>
        <p15:guide id="18" pos="1345" userDrawn="1">
          <p15:clr>
            <a:srgbClr val="A4A3A4"/>
          </p15:clr>
        </p15:guide>
        <p15:guide id="19" pos="6902" userDrawn="1">
          <p15:clr>
            <a:srgbClr val="A4A3A4"/>
          </p15:clr>
        </p15:guide>
        <p15:guide id="20" orient="horz" pos="8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EE2A91-04D3-8DCB-393A-1344B9AB0EF2}" name="Tanigawa Chika" initials="" userId="S::Chika.Tanigawa@ascentnetworks.onmicrosoft.com::6bb8955f-e061-4b3b-999e-05c07059a1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C5D7"/>
    <a:srgbClr val="FF7F0D"/>
    <a:srgbClr val="1E35E3"/>
    <a:srgbClr val="EAEEF6"/>
    <a:srgbClr val="1D76E3"/>
    <a:srgbClr val="8883DD"/>
    <a:srgbClr val="F2F2F2"/>
    <a:srgbClr val="4F3CBC"/>
    <a:srgbClr val="6A6A84"/>
    <a:srgbClr val="E9D2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1" autoAdjust="0"/>
    <p:restoredTop sz="96633" autoAdjust="0"/>
  </p:normalViewPr>
  <p:slideViewPr>
    <p:cSldViewPr snapToGrid="0" showGuides="1">
      <p:cViewPr varScale="1">
        <p:scale>
          <a:sx n="100" d="100"/>
          <a:sy n="100" d="100"/>
        </p:scale>
        <p:origin x="184" y="656"/>
      </p:cViewPr>
      <p:guideLst>
        <p:guide pos="3885"/>
        <p:guide pos="1345"/>
        <p:guide pos="6902"/>
        <p:guide orient="horz" pos="82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-16686"/>
    </p:cViewPr>
  </p:sorterViewPr>
  <p:notesViewPr>
    <p:cSldViewPr snapToGrid="0" showGuides="1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575C664-24DF-BC49-865C-58793F1F82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9AAD030-DFF0-9340-AEDB-A390D8959BA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6D7D8D21-847A-FC4A-A027-378C2035830C}" type="datetimeFigureOut">
              <a:rPr lang="ja-JP" altLang="en-US" smtClean="0"/>
              <a:pPr>
                <a:defRPr/>
              </a:pPr>
              <a:t>2026/10/1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12229736-B5D8-2A42-84DE-40E69C71A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0EDFE84-F042-6C4E-AF06-225BED7B1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1E05FC-4EE1-DA46-93D6-E9A3202E0A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450C69-AA80-7742-BE3E-914C9C347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Meiryo UI" panose="020B0604030504040204" pitchFamily="34" charset="-128"/>
                <a:ea typeface="Yu Gothic" panose="020B0400000000000000" pitchFamily="34" charset="-128"/>
              </a:defRPr>
            </a:lvl1pPr>
          </a:lstStyle>
          <a:p>
            <a:pPr>
              <a:defRPr/>
            </a:pPr>
            <a:fld id="{2CE42A34-F524-594B-A9AB-52D4263244E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  <a:cs typeface="+mn-cs"/>
      </a:defRPr>
    </a:lvl1pPr>
    <a:lvl2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2pPr>
    <a:lvl3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3pPr>
    <a:lvl4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4pPr>
    <a:lvl5pPr algn="l" rtl="0" eaLnBrk="0" fontAlgn="base" hangingPunct="0">
      <a:spcBef>
        <a:spcPct val="30000"/>
      </a:spcBef>
      <a:spcAft>
        <a:spcPct val="0"/>
      </a:spcAft>
      <a:defRPr sz="1200" b="0" i="0">
        <a:solidFill>
          <a:schemeClr val="tx1"/>
        </a:solidFill>
        <a:latin typeface="Meiryo UI" panose="020B0604030504040204" pitchFamily="34" charset="-128"/>
        <a:ea typeface="Yu Gothic" panose="020B0400000000000000" pitchFamily="34" charset="-128"/>
      </a:defRPr>
    </a:lvl5pPr>
    <a:lvl6pPr marL="4572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6pPr>
    <a:lvl7pPr marL="9144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7pPr>
    <a:lvl8pPr marL="1371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8pPr>
    <a:lvl9pPr marL="18288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Arial" panose="020B0604020202020204" pitchFamily="34" charset="0"/>
        <a:ea typeface="Meiryo UI" panose="020B0604030504040204" pitchFamily="34" charset="-128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E2D0-4208-904E-FACC-EEAF2D45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BD36E6D-D479-C7F3-438C-2089E8953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64D697-4643-008B-A705-62C9868DA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D01FC9B-8DF6-6FA8-31A0-3EB9250CE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E42A34-F524-594B-A9AB-52D4263244E6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8532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po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22D3F2E3-B210-5873-5060-AAA29D19E8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1659" y="68215"/>
            <a:ext cx="1315379" cy="229017"/>
          </a:xfrm>
          <a:prstGeom prst="rect">
            <a:avLst/>
          </a:prstGeom>
        </p:spPr>
      </p:pic>
      <p:sp>
        <p:nvSpPr>
          <p:cNvPr id="5" name="テキスト プレースホルダー 16">
            <a:extLst>
              <a:ext uri="{FF2B5EF4-FFF2-40B4-BE49-F238E27FC236}">
                <a16:creationId xmlns:a16="http://schemas.microsoft.com/office/drawing/2014/main" id="{AD9EBCA7-F6F0-EE2B-9F6C-B868FF042B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164080" y="-3868"/>
            <a:ext cx="8377579" cy="300732"/>
          </a:xfrm>
          <a:prstGeom prst="rect">
            <a:avLst/>
          </a:prstGeom>
        </p:spPr>
        <p:txBody>
          <a:bodyPr anchor="ctr"/>
          <a:lstStyle>
            <a:lvl1pPr>
              <a:defRPr sz="1200" b="1">
                <a:solidFill>
                  <a:schemeClr val="bg1">
                    <a:lumMod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タイトル 4">
            <a:extLst>
              <a:ext uri="{FF2B5EF4-FFF2-40B4-BE49-F238E27FC236}">
                <a16:creationId xmlns:a16="http://schemas.microsoft.com/office/drawing/2014/main" id="{6C58E241-9B4F-D9E5-1704-EC0E02FE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50" y="296864"/>
            <a:ext cx="11492700" cy="405664"/>
          </a:xfrm>
          <a:prstGeom prst="rect">
            <a:avLst/>
          </a:prstGeom>
        </p:spPr>
        <p:txBody>
          <a:bodyPr wrap="square"/>
          <a:lstStyle>
            <a:lvl1pPr>
              <a:defRPr lang="ja-JP" altLang="en-US"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defRPr>
            </a:lvl1pPr>
          </a:lstStyle>
          <a:p>
            <a:pPr marL="0"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7" name="テキスト プレースホルダー 10">
            <a:extLst>
              <a:ext uri="{FF2B5EF4-FFF2-40B4-BE49-F238E27FC236}">
                <a16:creationId xmlns:a16="http://schemas.microsoft.com/office/drawing/2014/main" id="{4C464BDC-FDBD-986C-F7FE-A6C256A5B4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8942" y="1101262"/>
            <a:ext cx="11838370" cy="6111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ja-JP" altLang="en-US" sz="1100" b="0" i="0" kern="1200">
                <a:solidFill>
                  <a:srgbClr val="000000"/>
                </a:solidFill>
                <a:latin typeface="Meiryo UI"/>
                <a:ea typeface="Meiryo UI" panose="020B0604030504040204" pitchFamily="34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172800" lvl="0" indent="-172800" algn="l" defTabSz="914400" rtl="0" latinLnBrk="0">
              <a:lnSpc>
                <a:spcPts val="182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コンテンツ プレースホルダー 13">
            <a:extLst>
              <a:ext uri="{FF2B5EF4-FFF2-40B4-BE49-F238E27FC236}">
                <a16:creationId xmlns:a16="http://schemas.microsoft.com/office/drawing/2014/main" id="{A6769580-5DCD-60D3-AC09-36BE2B8196B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49650" y="6624637"/>
            <a:ext cx="11347050" cy="215444"/>
          </a:xfrm>
          <a:prstGeom prst="rect">
            <a:avLst/>
          </a:prstGeom>
        </p:spPr>
        <p:txBody>
          <a:bodyPr vert="horz" lIns="0" tIns="36000" rIns="0" bIns="36000" rtlCol="0" anchor="b">
            <a:noAutofit/>
          </a:bodyPr>
          <a:lstStyle>
            <a:lvl1pPr marL="0" indent="0">
              <a:buNone/>
              <a:defRPr lang="ja-JP" altLang="en-US" sz="800" b="0" i="0" kern="1200" smtClean="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</a:p>
          <a:p>
            <a:pPr marL="171450" lvl="0" indent="-171450" algn="l" defTabSz="914400" rtl="0" latinLnBrk="0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</a:pPr>
            <a:r>
              <a:rPr kumimoji="1" lang="en-US" altLang="ja-JP" dirty="0"/>
              <a:t>Text</a:t>
            </a:r>
            <a:endParaRPr kumimoji="1"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E89B91D-F051-BB75-9C1C-8C1507F2CD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0338"/>
          <a:stretch>
            <a:fillRect/>
          </a:stretch>
        </p:blipFill>
        <p:spPr>
          <a:xfrm>
            <a:off x="353258" y="2276476"/>
            <a:ext cx="2305857" cy="417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8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34" userDrawn="1">
          <p15:clr>
            <a:srgbClr val="FBAE40"/>
          </p15:clr>
        </p15:guide>
        <p15:guide id="7" orient="horz" pos="4065">
          <p15:clr>
            <a:srgbClr val="FBAE40"/>
          </p15:clr>
        </p15:guide>
        <p15:guide id="8" pos="3840">
          <p15:clr>
            <a:srgbClr val="FBAE40"/>
          </p15:clr>
        </p15:guide>
        <p15:guide id="9" orient="horz" pos="372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 Placeholder 6">
            <a:extLst>
              <a:ext uri="{FF2B5EF4-FFF2-40B4-BE49-F238E27FC236}">
                <a16:creationId xmlns:a16="http://schemas.microsoft.com/office/drawing/2014/main" id="{588C6F1B-FD7C-2542-9743-5EC2823D1E12}"/>
              </a:ext>
            </a:extLst>
          </p:cNvPr>
          <p:cNvSpPr txBox="1">
            <a:spLocks/>
          </p:cNvSpPr>
          <p:nvPr/>
        </p:nvSpPr>
        <p:spPr>
          <a:xfrm>
            <a:off x="11716209" y="6617102"/>
            <a:ext cx="367977" cy="120639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7BCC8D0D-EAEC-449D-9161-023DFF90F2E2}" type="slidenum">
              <a:rPr lang="en-US" sz="1200" b="1" i="0" smtClean="0">
                <a:solidFill>
                  <a:schemeClr val="tx1"/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Samsung SS Head Bold" pitchFamily="2" charset="0"/>
              </a:rPr>
              <a:pPr algn="l"/>
              <a:t>‹#›</a:t>
            </a:fld>
            <a:endParaRPr lang="en-US" sz="1200" b="1" i="0" dirty="0">
              <a:solidFill>
                <a:schemeClr val="tx1"/>
              </a:solidFill>
              <a:latin typeface="SamsungOne 400" panose="020B0503030303020204" pitchFamily="34" charset="0"/>
              <a:ea typeface="SamsungOne 400" panose="020B0503030303020204" pitchFamily="34" charset="0"/>
              <a:cs typeface="Samsung SS Head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41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</p:sldLayoutIdLst>
  <p:hf hdr="0" ftr="0" dt="0"/>
  <p:txStyles>
    <p:titleStyle>
      <a:lvl1pPr eaLnBrk="1" hangingPunct="1">
        <a:defRPr kumimoji="1" sz="750">
          <a:latin typeface="SamsungOne 700" panose="020B0803030303020204" pitchFamily="34" charset="0"/>
          <a:ea typeface="+mj-ea"/>
          <a:cs typeface="+mj-cs"/>
        </a:defRPr>
      </a:lvl1pPr>
    </p:titleStyle>
    <p:body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bodyStyle>
    <p:otherStyle>
      <a:lvl1pPr marL="0" eaLnBrk="1" hangingPunct="1">
        <a:defRPr kumimoji="1">
          <a:latin typeface="+mn-lt"/>
          <a:ea typeface="+mn-ea"/>
          <a:cs typeface="+mn-cs"/>
        </a:defRPr>
      </a:lvl1pPr>
      <a:lvl2pPr marL="277262" eaLnBrk="1" hangingPunct="1">
        <a:defRPr kumimoji="1">
          <a:latin typeface="+mn-lt"/>
          <a:ea typeface="+mn-ea"/>
          <a:cs typeface="+mn-cs"/>
        </a:defRPr>
      </a:lvl2pPr>
      <a:lvl3pPr marL="554524" eaLnBrk="1" hangingPunct="1">
        <a:defRPr kumimoji="1">
          <a:latin typeface="+mn-lt"/>
          <a:ea typeface="+mn-ea"/>
          <a:cs typeface="+mn-cs"/>
        </a:defRPr>
      </a:lvl3pPr>
      <a:lvl4pPr marL="831786" eaLnBrk="1" hangingPunct="1">
        <a:defRPr kumimoji="1">
          <a:latin typeface="+mn-lt"/>
          <a:ea typeface="+mn-ea"/>
          <a:cs typeface="+mn-cs"/>
        </a:defRPr>
      </a:lvl4pPr>
      <a:lvl5pPr marL="1109048" eaLnBrk="1" hangingPunct="1">
        <a:defRPr kumimoji="1">
          <a:latin typeface="+mn-lt"/>
          <a:ea typeface="+mn-ea"/>
          <a:cs typeface="+mn-cs"/>
        </a:defRPr>
      </a:lvl5pPr>
      <a:lvl6pPr marL="1386310" eaLnBrk="1" hangingPunct="1">
        <a:defRPr kumimoji="1">
          <a:latin typeface="+mn-lt"/>
          <a:ea typeface="+mn-ea"/>
          <a:cs typeface="+mn-cs"/>
        </a:defRPr>
      </a:lvl6pPr>
      <a:lvl7pPr marL="1663570" eaLnBrk="1" hangingPunct="1">
        <a:defRPr kumimoji="1">
          <a:latin typeface="+mn-lt"/>
          <a:ea typeface="+mn-ea"/>
          <a:cs typeface="+mn-cs"/>
        </a:defRPr>
      </a:lvl7pPr>
      <a:lvl8pPr marL="1940834" eaLnBrk="1" hangingPunct="1">
        <a:defRPr kumimoji="1">
          <a:latin typeface="+mn-lt"/>
          <a:ea typeface="+mn-ea"/>
          <a:cs typeface="+mn-cs"/>
        </a:defRPr>
      </a:lvl8pPr>
      <a:lvl9pPr marL="2218095" eaLnBrk="1" hangingPunct="1">
        <a:defRPr kumimoji="1"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27" orient="horz" pos="686" userDrawn="1">
          <p15:clr>
            <a:srgbClr val="F26B43"/>
          </p15:clr>
        </p15:guide>
        <p15:guide id="31" pos="211" userDrawn="1">
          <p15:clr>
            <a:srgbClr val="F26B43"/>
          </p15:clr>
        </p15:guide>
        <p15:guide id="32" orient="horz" pos="7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A946-FE08-5470-C6D2-1DB6C711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FCB2372-BADE-AE06-748B-8C54DCE9D20D}"/>
              </a:ext>
            </a:extLst>
          </p:cNvPr>
          <p:cNvSpPr txBox="1">
            <a:spLocks/>
          </p:cNvSpPr>
          <p:nvPr/>
        </p:nvSpPr>
        <p:spPr>
          <a:xfrm>
            <a:off x="438156" y="6381750"/>
            <a:ext cx="11350110" cy="476250"/>
          </a:xfrm>
          <a:prstGeom prst="rect">
            <a:avLst/>
          </a:prstGeom>
        </p:spPr>
        <p:txBody>
          <a:bodyPr vert="horz" wrap="square" lIns="0" tIns="36000" rIns="0" bIns="36000" rtlCol="0" anchor="b">
            <a:norm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50000"/>
                </a:schemeClr>
              </a:buClr>
              <a:buFont typeface="Meiryo UI" panose="020B0604030504040204" pitchFamily="34" charset="-128"/>
              <a:buChar char="※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800" b="0" i="0" kern="1200">
                <a:solidFill>
                  <a:schemeClr val="bg1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50000"/>
                </a:prstClr>
              </a:buClr>
              <a:defRPr/>
            </a:pPr>
            <a:r>
              <a:rPr sz="640" b="0" i="0">
                <a:solidFill>
                  <a:srgbClr val="808080"/>
                </a:solidFill>
                <a:latin typeface="Meiryo UI"/>
              </a:rPr>
              <a:t>Data：2026/9/21~2026/9/27
https://www.samsung.com/jp/support/mobile-devices/galaxy-device-lock-screen-features/</a:t>
            </a:r>
            <a:endParaRPr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C1A5CE-EA04-173C-F423-D4E2E3B2B211}"/>
              </a:ext>
            </a:extLst>
          </p:cNvPr>
          <p:cNvSpPr txBox="1"/>
          <p:nvPr/>
        </p:nvSpPr>
        <p:spPr>
          <a:xfrm>
            <a:off x="2732142" y="2278444"/>
            <a:ext cx="7112170" cy="2616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60" b="1" i="1">
                <a:solidFill>
                  <a:srgbClr val="000000"/>
                </a:solidFill>
                <a:latin typeface="Meiryo UI"/>
              </a:rPr>
              <a:t>Title : （実行時にページソースの &lt;title&gt; から自動取得）</a:t>
            </a:r>
            <a:endParaRPr lang="ja-JP" altLang="en-US" sz="800" b="1" i="1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タイトル 10">
            <a:extLst>
              <a:ext uri="{FF2B5EF4-FFF2-40B4-BE49-F238E27FC236}">
                <a16:creationId xmlns:a16="http://schemas.microsoft.com/office/drawing/2014/main" id="{83093C6E-2ADC-D009-BFF3-370050C8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 fontScale="90000"/>
          </a:bodyPr>
          <a:lstStyle/>
          <a:p>
            <a:pPr>
              <a:spcAft>
                <a:spcPts val="0"/>
              </a:spcAft>
              <a:defRPr/>
            </a:pPr>
            <a:r>
              <a:rPr sz="1600" b="1" i="0">
                <a:solidFill>
                  <a:srgbClr val="000000"/>
                </a:solidFill>
                <a:latin typeface="Meiryo UI"/>
              </a:rPr>
              <a:t>/support/mobile-devices/galaxy-device-lock-screen-features</a:t>
            </a:r>
            <a:endParaRPr lang="en" altLang="ja-JP" sz="1000" dirty="0">
              <a:solidFill>
                <a:srgbClr val="1E35E3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Meiryo UI"/>
              </a:rPr>
              <a:t>今週Entry Visit 5.0K (</a:t>
            </a:r>
            <a:r>
              <a:rPr sz="1400" b="1" i="0">
                <a:solidFill>
                  <a:srgbClr val="808080"/>
                </a:solidFill>
                <a:latin typeface="Meiryo UI"/>
              </a:rPr>
              <a:t>NEW</a:t>
            </a:r>
            <a:r>
              <a:rPr sz="1400" b="1" i="0">
                <a:solidFill>
                  <a:srgbClr val="000000"/>
                </a:solidFill>
                <a:latin typeface="Meiryo UI"/>
              </a:rPr>
              <a:t> vs 先週) </a:t>
            </a:r>
            <a:r>
              <a:rPr sz="1400" b="1" i="0">
                <a:solidFill>
                  <a:srgbClr val="1E35E3"/>
                </a:solidFill>
                <a:latin typeface="Meiryo UI"/>
              </a:rPr>
              <a:t>→新規流入が発生し、Organic Searchが中心</a:t>
            </a:r>
          </a:p>
        </p:txBody>
      </p:sp>
      <p:sp>
        <p:nvSpPr>
          <p:cNvPr id="17" name="テキスト プレースホルダー 1185">
            <a:extLst>
              <a:ext uri="{FF2B5EF4-FFF2-40B4-BE49-F238E27FC236}">
                <a16:creationId xmlns:a16="http://schemas.microsoft.com/office/drawing/2014/main" id="{51393457-A83D-AE73-0BA1-4A0E81A8040B}"/>
              </a:ext>
            </a:extLst>
          </p:cNvPr>
          <p:cNvSpPr txBox="1">
            <a:spLocks/>
          </p:cNvSpPr>
          <p:nvPr/>
        </p:nvSpPr>
        <p:spPr>
          <a:xfrm>
            <a:off x="334964" y="1202142"/>
            <a:ext cx="11522074" cy="43191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ja-JP" altLang="en-US" sz="1100" b="0" i="0" kern="120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4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b="0" i="0" kern="1200">
                <a:solidFill>
                  <a:schemeClr val="tx1"/>
                </a:solidFill>
                <a:latin typeface="Meiryo UI" panose="020B0604030504040204" pitchFamily="34" charset="-128"/>
                <a:ea typeface="Noto Sans JP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2800" indent="-172800">
              <a:lnSpc>
                <a:spcPts val="182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b="0" i="0">
                <a:solidFill>
                  <a:srgbClr val="000000"/>
                </a:solidFill>
                <a:latin typeface="Meiryo UI"/>
              </a:rPr>
              <a:t>流入割合：Organic Search 96% &gt; Display AD 2% &gt; Direct 2%</a:t>
            </a:r>
            <a:endParaRPr lang="en-US" b="0" i="0" dirty="0">
              <a:solidFill>
                <a:srgbClr val="000000"/>
              </a:solidFill>
              <a:latin typeface="Meiryo UI"/>
            </a:endParaRPr>
          </a:p>
          <a:p>
            <a:pPr marL="172800" indent="-172800">
              <a:lnSpc>
                <a:spcPts val="182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b="0" i="0">
                <a:solidFill>
                  <a:srgbClr val="000000"/>
                </a:solidFill>
                <a:latin typeface="Meiryo UI"/>
              </a:rPr>
              <a:t>Entry→PF・PD・BC 2 Visit、CTR 0.0%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7C2CD914-3088-0488-19A7-FC0F216D7652}"/>
              </a:ext>
            </a:extLst>
          </p:cNvPr>
          <p:cNvSpPr/>
          <p:nvPr/>
        </p:nvSpPr>
        <p:spPr bwMode="auto">
          <a:xfrm>
            <a:off x="334962" y="48744"/>
            <a:ext cx="1311931" cy="245740"/>
          </a:xfrm>
          <a:prstGeom prst="roundRect">
            <a:avLst/>
          </a:prstGeom>
          <a:solidFill>
            <a:schemeClr val="bg1"/>
          </a:solidFill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04" rIns="0" bIns="45704" numCol="1" spcCol="0" rtlCol="0" anchor="ctr" anchorCtr="0" compatLnSpc="1">
            <a:prstTxWarp prst="textNoShape">
              <a:avLst/>
            </a:prstTxWarp>
            <a:noAutofit/>
          </a:bodyPr>
          <a:lstStyle/>
          <a:p>
            <a:pPr algn="ctr" defTabSz="761739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ja-JP" sz="1200" b="1" dirty="0">
                <a:solidFill>
                  <a:schemeClr val="bg1">
                    <a:lumMod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vs </a:t>
            </a:r>
            <a:r>
              <a:rPr kumimoji="1" lang="ja-JP" altLang="en-US" sz="1200" b="1">
                <a:solidFill>
                  <a:schemeClr val="bg1">
                    <a:lumMod val="7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rPr>
              <a:t>先週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  <a:cs typeface="Samsung SS Head Bold" pitchFamily="2" charset="0"/>
            </a:endParaRPr>
          </a:p>
        </p:txBody>
      </p:sp>
      <p:sp>
        <p:nvSpPr>
          <p:cNvPr id="15" name="タイトル 1">
            <a:extLst>
              <a:ext uri="{FF2B5EF4-FFF2-40B4-BE49-F238E27FC236}">
                <a16:creationId xmlns:a16="http://schemas.microsoft.com/office/drawing/2014/main" id="{E06912C0-852D-595C-DDDC-CBD156DEB41B}"/>
              </a:ext>
            </a:extLst>
          </p:cNvPr>
          <p:cNvSpPr txBox="1">
            <a:spLocks/>
          </p:cNvSpPr>
          <p:nvPr/>
        </p:nvSpPr>
        <p:spPr>
          <a:xfrm>
            <a:off x="1646893" y="48744"/>
            <a:ext cx="8841275" cy="245740"/>
          </a:xfrm>
          <a:prstGeom prst="rect">
            <a:avLst/>
          </a:prstGeom>
        </p:spPr>
        <p:txBody>
          <a:bodyPr wrap="square" anchor="ctr">
            <a:normAutofit/>
          </a:bodyPr>
          <a:lstStyle>
            <a:lvl1pPr eaLnBrk="1" hangingPunct="1">
              <a:defRPr kumimoji="1" lang="ja-JP" altLang="en-US"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Samsung SS Head Bold" pitchFamily="2" charset="0"/>
              </a:defRPr>
            </a:lvl1pPr>
          </a:lstStyle>
          <a:p>
            <a:pPr defTabSz="914400"/>
            <a:r>
              <a:rPr sz="1000" b="1" i="0">
                <a:solidFill>
                  <a:srgbClr val="B5B5B5"/>
                </a:solidFill>
                <a:latin typeface="Meiryo UI"/>
              </a:rPr>
              <a:t>support &gt; galaxy-device-lock-screen-features</a:t>
            </a:r>
            <a:endParaRPr lang="ja-JP" altLang="en-US" sz="1200">
              <a:solidFill>
                <a:srgbClr val="1E37E2"/>
              </a:solidFill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6E405E98-3A37-DED8-010F-6C9486D58D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2561462"/>
              </p:ext>
            </p:extLst>
          </p:nvPr>
        </p:nvGraphicFramePr>
        <p:xfrm>
          <a:off x="2807593" y="2530383"/>
          <a:ext cx="6529575" cy="3168000"/>
        </p:xfrm>
        <a:graphic>
          <a:graphicData uri="http://schemas.openxmlformats.org/drawingml/2006/table">
            <a:tbl>
              <a:tblPr/>
              <a:tblGrid>
                <a:gridCol w="76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990295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7188266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000643009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96850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72759045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59592354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kumimoji="0" lang="en-US" altLang="ja-JP" sz="900" b="1" dirty="0">
                          <a:solidFill>
                            <a:schemeClr val="tx1"/>
                          </a:solidFill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Channel</a:t>
                      </a:r>
                      <a:endParaRPr lang="ja-JP" altLang="en-US" sz="900" b="1" i="0" u="none" strike="noStrike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404" marR="9404" marT="9406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ja-JP" sz="900" b="1" i="0" u="none" strike="noStrike" dirty="0">
                          <a:solidFill>
                            <a:srgbClr val="7F7F7F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 weeks ago</a:t>
                      </a: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" altLang="ja-JP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Last Week</a:t>
                      </a:r>
                    </a:p>
                  </a:txBody>
                  <a:tcPr marL="9524" marR="9524" marT="9526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800" b="1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Entry Visit</a:t>
                      </a:r>
                      <a:endParaRPr lang="en" sz="800" b="1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7511" marR="7511" marT="751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Entry</a:t>
                      </a:r>
                    </a:p>
                    <a:p>
                      <a:pPr algn="ctr" rtl="0" fontAlgn="ctr"/>
                      <a:r>
                        <a:rPr lang="en" sz="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→PF・PD・BC</a:t>
                      </a:r>
                    </a:p>
                  </a:txBody>
                  <a:tcPr marL="7511" marR="7511" marT="7511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altLang="ja-JP" sz="800" b="1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Bounce </a:t>
                      </a:r>
                    </a:p>
                    <a:p>
                      <a:pPr algn="ctr" rtl="0" fontAlgn="ctr"/>
                      <a:r>
                        <a:rPr lang="en" altLang="ja-JP" sz="800" b="1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Rate</a:t>
                      </a:r>
                      <a:endParaRPr lang="ja-JP" altLang="en-US" sz="800" b="1" i="0" u="none" strike="noStrike" baseline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7511" marR="7511" marT="751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sz="800" b="1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Entry Visit</a:t>
                      </a:r>
                      <a:endParaRPr lang="en" sz="800" b="1" i="0" u="none" strike="noStrike" dirty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7511" marR="7511" marT="7511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対先週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Entry</a:t>
                      </a:r>
                    </a:p>
                    <a:p>
                      <a:pPr algn="ctr" rtl="0" fontAlgn="ctr"/>
                      <a: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→PF・PD・BC</a:t>
                      </a:r>
                    </a:p>
                  </a:txBody>
                  <a:tcPr marL="7511" marR="7511" marT="7511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altLang="ja-JP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CTR</a:t>
                      </a:r>
                    </a:p>
                  </a:txBody>
                  <a:tcPr marL="7511" marR="7511" marT="7511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" altLang="ja-JP" sz="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Bounce </a:t>
                      </a:r>
                    </a:p>
                    <a:p>
                      <a:pPr algn="ctr" rtl="0" fontAlgn="ctr"/>
                      <a:r>
                        <a:rPr lang="en" altLang="ja-JP" sz="8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Rate</a:t>
                      </a:r>
                      <a:endParaRPr lang="ja-JP" altLang="en-US" sz="800" b="1" i="0" u="none" strike="noStrike" baseline="0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7511" marR="7511" marT="7511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Organic Search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 dirty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4,846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Direct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77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1.3%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40905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Referral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Owned Social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4067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Social Referrals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CRM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17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Paid Search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0" i="0">
                          <a:solidFill>
                            <a:srgbClr val="000000"/>
                          </a:solidFill>
                          <a:latin typeface="Meiryo UI"/>
                        </a:rPr>
                        <a:t>Display AD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91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0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 UI"/>
                        </a:rPr>
                        <a:t>12%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sz="740" b="1" i="0">
                          <a:solidFill>
                            <a:srgbClr val="000000"/>
                          </a:solidFill>
                          <a:latin typeface="Meiryo UI"/>
                        </a:rPr>
                        <a:t>Total</a:t>
                      </a:r>
                    </a:p>
                  </a:txBody>
                  <a:tcPr marL="91461" marR="91461" marT="45725" marB="45725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808080"/>
                          </a:solidFill>
                          <a:latin typeface="Meiryo UI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808080"/>
                          </a:solidFill>
                          <a:latin typeface="Meiryo UI"/>
                        </a:rPr>
                        <a:t>—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Meiryo UI"/>
                        </a:rPr>
                        <a:t>5,041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60" b="1" i="0">
                          <a:solidFill>
                            <a:srgbClr val="808080"/>
                          </a:solidFill>
                          <a:latin typeface="Meiryo UI"/>
                        </a:rPr>
                        <a:t>NEW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Meiryo UI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00000"/>
                          </a:solidFill>
                          <a:latin typeface="Meiryo UI"/>
                        </a:rPr>
                        <a:t>0.0%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 dirty="0">
                          <a:solidFill>
                            <a:srgbClr val="000000"/>
                          </a:solidFill>
                          <a:latin typeface="Meiryo UI"/>
                        </a:rPr>
                        <a:t>12%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F1377808-19CD-C151-656B-66C9EFF53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67218"/>
              </p:ext>
            </p:extLst>
          </p:nvPr>
        </p:nvGraphicFramePr>
        <p:xfrm>
          <a:off x="9630223" y="2543128"/>
          <a:ext cx="2197589" cy="3369590"/>
        </p:xfrm>
        <a:graphic>
          <a:graphicData uri="http://schemas.openxmlformats.org/drawingml/2006/table">
            <a:tbl>
              <a:tblPr/>
              <a:tblGrid>
                <a:gridCol w="217589">
                  <a:extLst>
                    <a:ext uri="{9D8B030D-6E8A-4147-A177-3AD203B41FA5}">
                      <a16:colId xmlns:a16="http://schemas.microsoft.com/office/drawing/2014/main" val="137889309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710181347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97677689"/>
                    </a:ext>
                  </a:extLst>
                </a:gridCol>
              </a:tblGrid>
              <a:tr h="267454">
                <a:tc>
                  <a:txBody>
                    <a:bodyPr/>
                    <a:lstStyle/>
                    <a:p>
                      <a:pPr algn="ctr" fontAlgn="ctr"/>
                      <a:endParaRPr lang="en" sz="8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altLang="ja-JP" sz="700" b="1" i="0" u="none" strike="noStrike" dirty="0">
                          <a:solidFill>
                            <a:srgbClr val="1E37E2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Organic Search Queries Top10</a:t>
                      </a:r>
                    </a:p>
                    <a:p>
                      <a:pPr algn="l" fontAlgn="ctr"/>
                      <a:r>
                        <a:rPr lang="en-US" altLang="ja-JP" sz="600" b="1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Last Week</a:t>
                      </a:r>
                      <a:endParaRPr lang="ja-JP" altLang="en-US" sz="600" b="1" i="0" u="none" strike="noStrike">
                        <a:solidFill>
                          <a:schemeClr val="tx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72000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700" b="1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363514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ja-JP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検索クエリ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クリック数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71073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4582312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736956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848063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014829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270066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100459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553462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053593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26307"/>
                  </a:ext>
                </a:extLst>
              </a:tr>
              <a:tr h="263686">
                <a:tc>
                  <a:txBody>
                    <a:bodyPr/>
                    <a:lstStyle/>
                    <a:p>
                      <a:pPr algn="ctr"/>
                      <a:r>
                        <a:rPr sz="720" b="0" i="0">
                          <a:solidFill>
                            <a:srgbClr val="000000"/>
                          </a:solidFill>
                          <a:latin typeface="Meiryo UI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6996074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20638" y="2452688"/>
            <a:ext cx="1993900" cy="4000500"/>
          </a:xfrm>
          <a:prstGeom prst="rect">
            <a:avLst/>
          </a:prstGeom>
          <a:solidFill>
            <a:srgbClr val="F6F6F6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sz="900" b="0" i="0">
                <a:solidFill>
                  <a:srgbClr val="AAAAAA"/>
                </a:solidFill>
                <a:latin typeface="Meiryo UI"/>
              </a:rPr>
              <a:t>Mobile Screenshot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C683464-961F-ADB8-0A76-80E86AC7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263" y="2530383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446448"/>
      </p:ext>
    </p:extLst>
  </p:cSld>
  <p:clrMapOvr>
    <a:masterClrMapping/>
  </p:clrMapOvr>
</p:sld>
</file>

<file path=ppt/theme/theme1.xml><?xml version="1.0" encoding="utf-8"?>
<a:theme xmlns:a="http://schemas.openxmlformats.org/drawingml/2006/main" name="samsungtheme">
  <a:themeElements>
    <a:clrScheme name="ユーザー定義 12">
      <a:dk1>
        <a:srgbClr val="000000"/>
      </a:dk1>
      <a:lt1>
        <a:srgbClr val="FFFFFF"/>
      </a:lt1>
      <a:dk2>
        <a:srgbClr val="1428A0"/>
      </a:dk2>
      <a:lt2>
        <a:srgbClr val="6E6969"/>
      </a:lt2>
      <a:accent1>
        <a:srgbClr val="42526A"/>
      </a:accent1>
      <a:accent2>
        <a:srgbClr val="D5DCE7"/>
      </a:accent2>
      <a:accent3>
        <a:srgbClr val="DADADA"/>
      </a:accent3>
      <a:accent4>
        <a:srgbClr val="96D653"/>
      </a:accent4>
      <a:accent5>
        <a:srgbClr val="FFB545"/>
      </a:accent5>
      <a:accent6>
        <a:srgbClr val="FF433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solidFill>
            <a:srgbClr val="00206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45704" rIns="0" bIns="45704" numCol="1" spcCol="0" rtlCol="0" anchor="t" anchorCtr="0" compatLnSpc="1">
        <a:prstTxWarp prst="textNoShape">
          <a:avLst/>
        </a:prstTxWarp>
        <a:noAutofit/>
      </a:bodyPr>
      <a:lstStyle>
        <a:defPPr algn="ctr" defTabSz="761739" fontAlgn="base" latinLnBrk="0">
          <a:spcBef>
            <a:spcPct val="0"/>
          </a:spcBef>
          <a:spcAft>
            <a:spcPct val="0"/>
          </a:spcAft>
          <a:defRPr kumimoji="1" sz="2100" b="1" dirty="0" smtClean="0">
            <a:latin typeface="Samsung Sharp Sans Bold" pitchFamily="2" charset="0"/>
            <a:ea typeface="맑은 고딕" panose="020B0503020000020004" pitchFamily="50" charset="-127"/>
            <a:cs typeface="Samsung Sharp Sans Bold" pitchFamily="2" charset="0"/>
          </a:defRPr>
        </a:defPPr>
      </a:lst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amsungtheme" id="{C4274082-643E-9A44-AFE7-ACFEC47CED22}" vid="{E24C3D57-8EB8-7642-BF52-9C055228CD8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434454</TotalTime>
  <Words>241</Words>
  <Application>Microsoft Macintosh PowerPoint</Application>
  <PresentationFormat>ワイド画面</PresentationFormat>
  <Paragraphs>121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SamsungOne 400</vt:lpstr>
      <vt:lpstr>SamsungOne 700</vt:lpstr>
      <vt:lpstr>Arial</vt:lpstr>
      <vt:lpstr>samsungtheme</vt:lpstr>
      <vt:lpstr>/support/mobile-devices/galaxy-device-lock-screen-features 今週Entry Visit 5.0K (NEW vs 先週) →新規流入が発生し、Organic Searchが中心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sej-user</dc:creator>
  <cp:lastModifiedBy>Ascent Networks</cp:lastModifiedBy>
  <cp:revision>54692</cp:revision>
  <cp:lastPrinted>2023-03-22T06:52:39Z</cp:lastPrinted>
  <dcterms:created xsi:type="dcterms:W3CDTF">2020-09-16T05:59:45Z</dcterms:created>
  <dcterms:modified xsi:type="dcterms:W3CDTF">2026-09-30T23:51:51Z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